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24129bfbf46e9" /><Relationship Type="http://schemas.openxmlformats.org/officeDocument/2006/relationships/extended-properties" Target="/docProps/app.xml" Id="R22c4ef272436486b" /><Relationship Type="http://schemas.openxmlformats.org/officeDocument/2006/relationships/officeDocument" Target="/ppt/presentation.xml" Id="R26320ff9a9ba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645cefc5e487c"/>
  </p:sldMasterIdLst>
  <p:notesMasterIdLst>
    <p:notesMasterId xmlns:r="http://schemas.openxmlformats.org/officeDocument/2006/relationships" r:id="R76178b48ce8f44d3"/>
  </p:notesMasterIdLst>
  <p:sldIdLst>
    <p:sldId xmlns:r="http://schemas.openxmlformats.org/officeDocument/2006/relationships" id="256" r:id="Rf8d8cc728105499b"/>
    <p:sldId xmlns:r="http://schemas.openxmlformats.org/officeDocument/2006/relationships" id="257" r:id="R9839f3baa3304732"/>
    <p:sldId xmlns:r="http://schemas.openxmlformats.org/officeDocument/2006/relationships" id="258" r:id="Rc2defe52b7fc4cbb"/>
    <p:sldId xmlns:r="http://schemas.openxmlformats.org/officeDocument/2006/relationships" id="259" r:id="R8916486b00414068"/>
    <p:sldId xmlns:r="http://schemas.openxmlformats.org/officeDocument/2006/relationships" id="260" r:id="Re16347f10b4543ec"/>
    <p:sldId xmlns:r="http://schemas.openxmlformats.org/officeDocument/2006/relationships" id="261" r:id="Rd4e2c07451a84639"/>
    <p:sldId xmlns:r="http://schemas.openxmlformats.org/officeDocument/2006/relationships" id="262" r:id="Re954a253c568407a"/>
    <p:sldId xmlns:r="http://schemas.openxmlformats.org/officeDocument/2006/relationships" id="263" r:id="Rf5413371cf354839"/>
    <p:sldId xmlns:r="http://schemas.openxmlformats.org/officeDocument/2006/relationships" id="264" r:id="Rddf67ae949b0464b"/>
    <p:sldId xmlns:r="http://schemas.openxmlformats.org/officeDocument/2006/relationships" id="265" r:id="R293d076285f14d87"/>
    <p:sldId xmlns:r="http://schemas.openxmlformats.org/officeDocument/2006/relationships" id="266" r:id="R6a15999e54734028"/>
    <p:sldId xmlns:r="http://schemas.openxmlformats.org/officeDocument/2006/relationships" id="267" r:id="Rc94a3dfcd6c74303"/>
  </p:sldIdLst>
  <p:sldSz cx="1217933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f3a2ce15c44b43" /><Relationship Type="http://schemas.openxmlformats.org/officeDocument/2006/relationships/slideMaster" Target="/ppt/slideMasters/slideMaster1.xml" Id="Ra90645cefc5e487c" /><Relationship Type="http://schemas.openxmlformats.org/officeDocument/2006/relationships/notesMaster" Target="/ppt/notesMasters/notesMaster1.xml" Id="R76178b48ce8f44d3" /><Relationship Type="http://schemas.openxmlformats.org/officeDocument/2006/relationships/presProps" Target="/ppt/presProps.xml" Id="R782eb03d3f7e4b6f" /><Relationship Type="http://schemas.openxmlformats.org/officeDocument/2006/relationships/tableStyles" Target="/ppt/tableStyles.xml" Id="R820d2a24c9a34042" /><Relationship Type="http://schemas.openxmlformats.org/officeDocument/2006/relationships/slide" Target="/ppt/slides/slide1.xml" Id="Rf8d8cc728105499b" /><Relationship Type="http://schemas.openxmlformats.org/officeDocument/2006/relationships/slide" Target="/ppt/slides/slide2.xml" Id="R9839f3baa3304732" /><Relationship Type="http://schemas.openxmlformats.org/officeDocument/2006/relationships/slide" Target="/ppt/slides/slide3.xml" Id="Rc2defe52b7fc4cbb" /><Relationship Type="http://schemas.openxmlformats.org/officeDocument/2006/relationships/slide" Target="/ppt/slides/slide4.xml" Id="R8916486b00414068" /><Relationship Type="http://schemas.openxmlformats.org/officeDocument/2006/relationships/slide" Target="/ppt/slides/slide5.xml" Id="Re16347f10b4543ec" /><Relationship Type="http://schemas.openxmlformats.org/officeDocument/2006/relationships/slide" Target="/ppt/slides/slide6.xml" Id="Rd4e2c07451a84639" /><Relationship Type="http://schemas.openxmlformats.org/officeDocument/2006/relationships/slide" Target="/ppt/slides/slide7.xml" Id="Re954a253c568407a" /><Relationship Type="http://schemas.openxmlformats.org/officeDocument/2006/relationships/slide" Target="/ppt/slides/slide8.xml" Id="Rf5413371cf354839" /><Relationship Type="http://schemas.openxmlformats.org/officeDocument/2006/relationships/slide" Target="/ppt/slides/slide9.xml" Id="Rddf67ae949b0464b" /><Relationship Type="http://schemas.openxmlformats.org/officeDocument/2006/relationships/slide" Target="/ppt/slides/slide10.xml" Id="R293d076285f14d87" /><Relationship Type="http://schemas.openxmlformats.org/officeDocument/2006/relationships/slide" Target="/ppt/slides/slide11.xml" Id="R6a15999e54734028" /><Relationship Type="http://schemas.openxmlformats.org/officeDocument/2006/relationships/slide" Target="/ppt/slides/slide12.xml" Id="Rc94a3dfcd6c7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a1d44fa1e44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256285c4fd40a2" /><Relationship Type="http://schemas.openxmlformats.org/officeDocument/2006/relationships/notesMaster" Target="/ppt/notesMasters/notesMaster1.xml" Id="R06ce9463d7ae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fdb135565f4c7b" /><Relationship Type="http://schemas.openxmlformats.org/officeDocument/2006/relationships/notesMaster" Target="/ppt/notesMasters/notesMaster1.xml" Id="Rbd08a3ab3655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70b525d654dd4" /><Relationship Type="http://schemas.openxmlformats.org/officeDocument/2006/relationships/notesMaster" Target="/ppt/notesMasters/notesMaster1.xml" Id="Refd8b6eb1d10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656ed00aa49fd" /><Relationship Type="http://schemas.openxmlformats.org/officeDocument/2006/relationships/notesMaster" Target="/ppt/notesMasters/notesMaster1.xml" Id="R6765aa0697e641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3fd31e3df14165" /><Relationship Type="http://schemas.openxmlformats.org/officeDocument/2006/relationships/notesMaster" Target="/ppt/notesMasters/notesMaster1.xml" Id="R8434c810ac6a44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21b407b884d69" /><Relationship Type="http://schemas.openxmlformats.org/officeDocument/2006/relationships/notesMaster" Target="/ppt/notesMasters/notesMaster1.xml" Id="R562a8f5c46964d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50179e0a7845e1" /><Relationship Type="http://schemas.openxmlformats.org/officeDocument/2006/relationships/notesMaster" Target="/ppt/notesMasters/notesMaster1.xml" Id="R68514b58b22348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6a652d6094cce" /><Relationship Type="http://schemas.openxmlformats.org/officeDocument/2006/relationships/notesMaster" Target="/ppt/notesMasters/notesMaster1.xml" Id="Re690488abeef4f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24ffd7920e426a" /><Relationship Type="http://schemas.openxmlformats.org/officeDocument/2006/relationships/notesMaster" Target="/ppt/notesMasters/notesMaster1.xml" Id="R0201bda1696e4a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233e2b26204bba" /><Relationship Type="http://schemas.openxmlformats.org/officeDocument/2006/relationships/notesMaster" Target="/ppt/notesMasters/notesMaster1.xml" Id="Rbca1eac810f144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af8a166c324835" /><Relationship Type="http://schemas.openxmlformats.org/officeDocument/2006/relationships/notesMaster" Target="/ppt/notesMasters/notesMaster1.xml" Id="R6094ba97aea747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7ec044feb84b19" /><Relationship Type="http://schemas.openxmlformats.org/officeDocument/2006/relationships/notesMaster" Target="/ppt/notesMasters/notesMaster1.xml" Id="R88fe8aa21603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bfa20f51d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419eed0c8d428c" /><Relationship Type="http://schemas.openxmlformats.org/officeDocument/2006/relationships/slideLayout" Target="/ppt/slideLayouts/slideLayout1.xml" Id="R4ac7854952d043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c7854952d043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f9ffada364885" /><Relationship Type="http://schemas.openxmlformats.org/officeDocument/2006/relationships/image" Target="/ppt/media/image.png" Id="Ref2d5db397454408" /><Relationship Type="http://schemas.openxmlformats.org/officeDocument/2006/relationships/notesSlide" Target="/ppt/notesSlides/notesSlide1.xml" Id="R3c186a3bd9a4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24f38a084012" /><Relationship Type="http://schemas.openxmlformats.org/officeDocument/2006/relationships/image" Target="/ppt/media/image2.png" Id="R21c4a6a59a754d61" /><Relationship Type="http://schemas.openxmlformats.org/officeDocument/2006/relationships/notesSlide" Target="/ppt/notesSlides/notesSlide2.xml" Id="R9efa919ddd2046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019ae9cd240cd" /><Relationship Type="http://schemas.openxmlformats.org/officeDocument/2006/relationships/image" Target="/ppt/media/image3.png" Id="R580fe665f5874753" /><Relationship Type="http://schemas.openxmlformats.org/officeDocument/2006/relationships/notesSlide" Target="/ppt/notesSlides/notesSlide3.xml" Id="R298a1cc7884c4e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dea1bd9fe489f" /><Relationship Type="http://schemas.openxmlformats.org/officeDocument/2006/relationships/image" Target="/ppt/media/image4.png" Id="Reec308ff6c504fd6" /><Relationship Type="http://schemas.openxmlformats.org/officeDocument/2006/relationships/notesSlide" Target="/ppt/notesSlides/notesSlide4.xml" Id="Rac32a0882bbc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7e1b0dd7249cb" /><Relationship Type="http://schemas.openxmlformats.org/officeDocument/2006/relationships/image" Target="/ppt/media/image5.png" Id="R75d02cb3a8634d52" /><Relationship Type="http://schemas.openxmlformats.org/officeDocument/2006/relationships/notesSlide" Target="/ppt/notesSlides/notesSlide5.xml" Id="R55fd78a02cbc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f844d241947f0" /><Relationship Type="http://schemas.openxmlformats.org/officeDocument/2006/relationships/image" Target="/ppt/media/image6.png" Id="R2e3c471a057f4055" /><Relationship Type="http://schemas.openxmlformats.org/officeDocument/2006/relationships/notesSlide" Target="/ppt/notesSlides/notesSlide6.xml" Id="R5fe64d0bcd3147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9d42c776a4c12" /><Relationship Type="http://schemas.openxmlformats.org/officeDocument/2006/relationships/image" Target="/ppt/media/image7.png" Id="R2a549ee51cf74265" /><Relationship Type="http://schemas.openxmlformats.org/officeDocument/2006/relationships/notesSlide" Target="/ppt/notesSlides/notesSlide7.xml" Id="Red37685680574e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2427defba4562" /><Relationship Type="http://schemas.openxmlformats.org/officeDocument/2006/relationships/image" Target="/ppt/media/image8.png" Id="Rfcc58a97d22640e6" /><Relationship Type="http://schemas.openxmlformats.org/officeDocument/2006/relationships/notesSlide" Target="/ppt/notesSlides/notesSlide8.xml" Id="R6a93c33ed88c4e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03c34ad454865" /><Relationship Type="http://schemas.openxmlformats.org/officeDocument/2006/relationships/image" Target="/ppt/media/image9.png" Id="R35db962cf0ab4b38" /><Relationship Type="http://schemas.openxmlformats.org/officeDocument/2006/relationships/notesSlide" Target="/ppt/notesSlides/notesSlide9.xml" Id="Re9fab11ab8d747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59d67c706494a" /><Relationship Type="http://schemas.openxmlformats.org/officeDocument/2006/relationships/chart" Target="/ppt/slides/charts/chart1.xml" Id="Re3b8a12b281641ac" /><Relationship Type="http://schemas.openxmlformats.org/officeDocument/2006/relationships/image" Target="/ppt/media/image10.png" Id="Rc9614ed1b93b4dbc" /><Relationship Type="http://schemas.openxmlformats.org/officeDocument/2006/relationships/notesSlide" Target="/ppt/notesSlides/notesSlide10.xml" Id="Rf9812603fa7d40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86f6c9ad54bcf" /><Relationship Type="http://schemas.openxmlformats.org/officeDocument/2006/relationships/image" Target="/ppt/media/image11.png" Id="Rb07a191fd7704879" /><Relationship Type="http://schemas.openxmlformats.org/officeDocument/2006/relationships/notesSlide" Target="/ppt/notesSlides/notesSlide11.xml" Id="Re42b846e2f4245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ad6ddea9141f1" /><Relationship Type="http://schemas.openxmlformats.org/officeDocument/2006/relationships/image" Target="/ppt/media/image12.png" Id="R5715a7fc6f404300" /><Relationship Type="http://schemas.openxmlformats.org/officeDocument/2006/relationships/notesSlide" Target="/ppt/notesSlides/notesSlide12.xml" Id="R6ab21def169c4e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고정 모델의 Batch별 MAPE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3A55"/>
              </a:solidFill>
              <a:latin typeface="Pretendard"/>
              <a:ea typeface="Pretendard"/>
              <a:cs typeface="Pretendard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MAPE (%)</c:v>
          </c:tx>
          <c:spPr>
            <a:solidFill xmlns:a="http://schemas.openxmlformats.org/drawingml/2006/main">
              <a:srgbClr val="009A94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28C2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D6FB7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Batch 1 CV</c:v>
                </c:pt>
                <c:pt idx="1">
                  <c:v>Batch 1 Hold-out</c:v>
                </c:pt>
                <c:pt idx="2">
                  <c:v>Batch 2 Test</c:v>
                </c:pt>
                <c:pt idx="3">
                  <c:v>Batch 3 Test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10.45</c:v>
                </c:pt>
                <c:pt idx="1">
                  <c:v>8.48</c:v>
                </c:pt>
                <c:pt idx="2">
                  <c:v>37.01</c:v>
                </c:pt>
                <c:pt idx="3">
                  <c:v>16.93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A55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retendard"/>
                    <a:ea typeface="Pretendard"/>
                    <a:cs typeface="Pretendard"/>
                  </a:rPr>
                  <a:t>MAPE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d5db397454408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01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4a6a59a754d61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7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fe665f5874753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4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308ff6c504fd6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9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02cb3a8634d52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0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c471a057f4055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08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49ee51cf74265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54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58a97d22640e6"/>
          <a:stretch xmlns:a="http://schemas.openxmlformats.org/drawingml/2006/main"/>
        </p:blipFill>
        <p:spPr>
          <a:xfrm xmlns:a="http://schemas.openxmlformats.org/drawingml/2006/main">
            <a:off x="16" y="0"/>
            <a:ext cx="121793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65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E16CA-E225-4A17-B118-F735B8AC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DAY 2 · 모델 개발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E86C7-5302-4C84-A089-D655115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 1 검증으로 Gradient Boosting을 선택했다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81DF-9E1B-4C06-8A5A-CBEDC2D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8"/>
          </a:solidFill>
          <a:ln xmlns:a="http://schemas.openxmlformats.org/drawingml/2006/main" w="0">
            <a:solidFill>
              <a:srgbClr val="D6E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4C6C2-6313-4AC4-9736-672925A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5120B-7DFB-4A76-8881-0872503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후보 모델 성능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CV MAPE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Hold-out MAPE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Linear Regression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16.95%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68.36%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선형 기준</a:t>
                      </a:r>
                    </a:p>
                  </a:txBody>
                  <a:tcPr marL="95250" marR="95250" marT="66675" marB="66675" anchor="ctr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ElasticNet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8.10%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20.58%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비교</a:t>
                      </a:r>
                    </a:p>
                  </a:txBody>
                  <a:tcPr marL="95250" marR="95250" marT="66675" marB="66675" anchor="ctr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Gradient Boosting</a:t>
                      </a:r>
                    </a:p>
                  </a:txBody>
                  <a:tcPr marL="95250" marR="95250" marT="66675" marB="66675" anchor="ctr">
                    <a:solidFill>
                      <a:srgbClr val="ED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10.45%</a:t>
                      </a:r>
                    </a:p>
                  </a:txBody>
                  <a:tcPr marL="95250" marR="95250" marT="66675" marB="66675" anchor="ctr">
                    <a:solidFill>
                      <a:srgbClr val="ED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8.48%</a:t>
                      </a:r>
                    </a:p>
                  </a:txBody>
                  <a:tcPr marL="95250" marR="95250" marT="66675" marB="66675" anchor="ctr">
                    <a:solidFill>
                      <a:srgbClr val="ED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선택</a:t>
                      </a:r>
                    </a:p>
                  </a:txBody>
                  <a:tcPr marL="95250" marR="95250" marT="66675" marB="66675" anchor="ctr">
                    <a:solidFill>
                      <a:srgbClr val="EDF8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7DF82-97ED-48CD-A03A-B5F86753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39243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3C89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F5440-DB72-4FCB-A03A-FB17C7D5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선택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874FE-F5FF-4BF9-B7B3-E589B78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 1 Hold-out MAPE를 우선하고</a:t>
            </a:r>
          </a:p>
          <a:p xmlns:a="http://schemas.openxmlformats.org/drawingml/2006/main">
            <a:pPr algn="l">
              <a:def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CV MAPE는 동률 비교에만 사용했다.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D7BBC-0FEC-46E9-A53C-4BFDE6E3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Batch 2와 Batch 3 결과는 모델이나</a:t>
            </a:r>
          </a:p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Feature를 다시 고르는 데 사용하지 않았다.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8AEFE-D182-435A-911B-7EC1475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11163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D6E4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B45C3-056F-472E-8F15-DECD6F4D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최종 모델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9C6EE-4CDB-4EBE-BF20-DFF7F28F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Gradient Boosting Regressor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A66F2-C621-4624-AE9E-F845649A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learning_rate 0.1   max_depth 1   n_estimators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27D68-AA1F-4FCE-A6E1-87718B4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얕은 Tree로 비선형 관계를 반영하면서</a:t>
            </a:r>
          </a:p>
          <a:p xmlns:a="http://schemas.openxmlformats.org/drawingml/2006/main">
            <a:pPr algn="l">
              <a:def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작은 데이터셋의 모델 복잡도를 제한했다.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b962cf0ab4b38"/>
          <a:stretch xmlns:a="http://schemas.openxmlformats.org/drawingml/2006/main"/>
        </p:blipFill>
        <p:spPr>
          <a:xfrm xmlns:a="http://schemas.openxmlformats.org/drawingml/2006/main">
            <a:off x="0" y="885"/>
            <a:ext cx="12179332" cy="6856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99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9FEA4-2B6F-4B19-A048-13FFC5AB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DAY 2 · 성능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2E9CA-C8FF-40AB-A457-9CD56D1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내부 검증 8.48%, Batch 2 외부 테스트 37.01%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5FB96-EE0E-42DF-AD7F-5A4280E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8"/>
          </a:solidFill>
          <a:ln xmlns:a="http://schemas.openxmlformats.org/drawingml/2006/main" w="0">
            <a:solidFill>
              <a:srgbClr val="D6E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488CB-D478-44DA-8138-96F1513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90550" y="1524000"/>
          <a:ext xmlns:a="http://schemas.openxmlformats.org/drawingml/2006/main" cx="6572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b8a12b281641a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A1F5B-4B39-45B8-9182-0B4A4FC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1338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3C89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CDFBC-E19C-47A3-BDF8-BADEF15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성능 차이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BF76A-9CD9-4A72-94D9-ADFD3F7F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54E42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C54E42"/>
                </a:solidFill>
                <a:latin typeface="Pretendard"/>
                <a:ea typeface="Pretendard"/>
                <a:cs typeface="Pretendard"/>
              </a:rPr>
              <a:t>+28.53%p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1F0DE-0A4B-48F5-80B1-73F85AA9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336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Valid와 Batch 2 Test의 차이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F9BC9-269E-4C92-916D-87308B6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54E42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C54E42"/>
                </a:solidFill>
                <a:latin typeface="Pretendard"/>
                <a:ea typeface="Pretendard"/>
                <a:cs typeface="Pretendard"/>
              </a:rPr>
              <a:t>+27.91%p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E0F0A-A821-46F1-B227-2B2811A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원논문 Target 9.1%와 Batch 2의 차이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3E23E-9581-4E6E-A05D-EF5F76BB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 1 내부 성능만으로 외부 Batch의</a:t>
            </a:r>
          </a:p>
          <a:p xmlns:a="http://schemas.openxmlformats.org/drawingml/2006/main">
            <a:pPr algn="l">
              <a:def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일반화 성능을 판단하기 어렵다.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A944-9C12-4D33-875F-C1FD918C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1163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D6E4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7AF4B-819F-464D-8720-3DC223A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 2는 단수명 분포가 많아 학습 범위를 벗어난 외삽 오류를 확인하는 핵심 외부 테스트다.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14ed1b93b4dbc"/>
          <a:stretch xmlns:a="http://schemas.openxmlformats.org/drawingml/2006/main"/>
        </p:blipFill>
        <p:spPr>
          <a:xfrm xmlns:a="http://schemas.openxmlformats.org/drawingml/2006/main">
            <a:off x="0" y="885"/>
            <a:ext cx="12179332" cy="6856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4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A62B8-235B-44AF-9C7F-80EF2A4A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DAY 2 · 오류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54480-F6E0-403B-AB91-62D8A781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 2 단수명 Cell에서 과대예측이 집중됐다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9E75D-FE66-4353-9B68-192FD309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8"/>
          </a:solidFill>
          <a:ln xmlns:a="http://schemas.openxmlformats.org/drawingml/2006/main" w="0">
            <a:solidFill>
              <a:srgbClr val="D6E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37324-C064-4A31-B58E-A358FB4D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95300" y="1581150"/>
          <a:ext xmlns:a="http://schemas.openxmlformats.org/drawingml/2006/main" cx="7239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98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Batch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MAPE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중앙 APE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평균 편향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과대예측 비율</a:t>
                      </a:r>
                    </a:p>
                  </a:txBody>
                  <a:tcPr marL="95250" marR="95250" marT="66675" marB="66675" anchor="ctr">
                    <a:solidFill>
                      <a:srgbClr val="173A55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Batch 2</a:t>
                      </a:r>
                    </a:p>
                  </a:txBody>
                  <a:tcPr marL="95250" marR="95250" marT="66675" marB="66675"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37.01%</a:t>
                      </a:r>
                    </a:p>
                  </a:txBody>
                  <a:tcPr marL="95250" marR="95250" marT="66675" marB="66675"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34.77%</a:t>
                      </a:r>
                    </a:p>
                  </a:txBody>
                  <a:tcPr marL="95250" marR="95250" marT="66675" marB="66675"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+148.6 Cycle</a:t>
                      </a:r>
                    </a:p>
                  </a:txBody>
                  <a:tcPr marL="95250" marR="95250" marT="66675" marB="66675"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88.2%</a:t>
                      </a:r>
                    </a:p>
                  </a:txBody>
                  <a:tcPr marL="95250" marR="95250" marT="66675" marB="66675" anchor="ctr">
                    <a:solidFill>
                      <a:srgbClr val="FFF3E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Batch 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16.93%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13.32%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-206.2 Cycle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A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17.5%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CF59A-5CB4-4F42-A921-A59FDBA2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35623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3C89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E8FB0-EAE1-4780-B4B0-0B4233A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최대 오류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A8F83-300E-46C9-BC57-B8C8DEB9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Batch2_cell_006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FA2AB-9268-4981-847B-E000989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실제 393 Cycle</a:t>
            </a:r>
          </a:p>
          <a:p xmlns:a="http://schemas.openxmlformats.org/drawingml/2006/main">
            <a:pPr algn="l">
              <a:defRPr sz="13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예측 685 Cycle</a:t>
            </a:r>
          </a:p>
          <a:p xmlns:a="http://schemas.openxmlformats.org/drawingml/2006/main">
            <a:pPr algn="l">
              <a:defRPr sz="13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APE 74.2%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11522-58EE-415A-8133-315B1401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11633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D6E4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465F5-905D-4288-AFB9-448C7121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확인된 원인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40E88-175B-4300-BA09-7166D90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Batch 1에는 500 Cycle 미만 Cell이 없지만 Batch 2의 76.5%가 단수명 Cell이다.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D30E3-523D-4554-A561-A1F2C84E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모델이 학습하지 못한 단수명 영역을 외삽하면서 수명을 실제보다 길게 예측했다. 개선하려면 단수명 학습 Cell과 OOD 경고가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E78BC-6E25-4FF8-8A83-EAAB12B2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163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3C89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41D1B-C1F0-439F-8863-1A931D57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293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Test 결과를 본 뒤 Feature나 하이퍼파라미터를 다시 선택하지 않았다.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a191fd7704879"/>
          <a:stretch xmlns:a="http://schemas.openxmlformats.org/drawingml/2006/main"/>
        </p:blipFill>
        <p:spPr>
          <a:xfrm xmlns:a="http://schemas.openxmlformats.org/drawingml/2006/main">
            <a:off x="0" y="885"/>
            <a:ext cx="12179332" cy="6856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24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7F5A8-9485-40AC-B1CC-EB14C82C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CONCLUSION · ESS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F69EF-A80C-4323-82CD-E7CB8EE8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초기 열화 신호는 유효했지만 배치 일반화가 남았다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451EE-0B4F-4644-89D9-1D46AC1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8"/>
          </a:solidFill>
          <a:ln xmlns:a="http://schemas.openxmlformats.org/drawingml/2006/main" w="0">
            <a:solidFill>
              <a:srgbClr val="D6E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C0F74-BBF8-4356-90C3-D36B7EF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622A4-FEC7-4C88-BAEE-823E085E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D6E4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889DC-1782-4995-BEB9-3376B69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5434E-0B15-4048-8314-05EC007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초기 예측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20D38-DDCB-438F-8D8E-8D07C35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10~100 Cycle의 ΔQ(V)로 장기 수명과 관련된 열화 신호를 포착했다.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F83D0-E3AA-454E-BD82-5612588F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D6E4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19778-9363-4954-95A8-3D85B593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38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A8854-C847-4457-AE67-D6247B7A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변화 추세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62D65-A9FC-4076-BBE1-85EA9CC2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단일 QD 값보다 초기 용량 변화량과 ΔQ 분산이 수명을 더 잘 설명했다.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75A87-D5B1-4E49-80DB-25B60D3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D6E4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EFA86-0232-4B96-B9F2-00F405C6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9A9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9A9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BC054-14F1-4793-BD63-32941C3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운전조건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D08E3-83C9-45BF-B3C0-6B6CEB8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충전조건의 영향이 Batch마다 달라 Cell 상태와 운전정보를 함께 봐야 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63E00-49C7-419D-9681-7CE757C1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3C89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8D13C-0FD1-4BD0-8B04-ECE7849E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48CA8-FA17-4F5E-98E3-6C08A4B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A55"/>
                </a:solidFill>
                <a:latin typeface="Pretendard"/>
                <a:ea typeface="Pretendard"/>
                <a:cs typeface="Pretendard"/>
              </a:rPr>
              <a:t>일반화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1A88B-D8A9-4666-8D37-2807BD71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47884"/>
                </a:solidFill>
                <a:latin typeface="Pretendard"/>
                <a:ea typeface="Pretendard"/>
                <a:cs typeface="Pretendard"/>
              </a:rPr>
              <a:t>Batch 2의 큰 오류는 학습 분포와 다른 단수명 영역에서 발생했다.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64946-8F23-49FA-B4A9-B21D5DB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1163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3A55"/>
          </a:solidFill>
          <a:ln xmlns:a="http://schemas.openxmlformats.org/drawingml/2006/main" w="9525">
            <a:solidFill>
              <a:srgbClr val="173A5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76AD9-52A4-440C-8CA3-76493743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6C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5D6CF"/>
                </a:solidFill>
                <a:latin typeface="Pretendard"/>
                <a:ea typeface="Pretendard"/>
                <a:cs typeface="Pretendard"/>
              </a:rPr>
              <a:t>최종 모델링 방향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B0950-1536-4656-94AF-C06A072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초기 열화 패턴과 운전조건을 결합하고, 외부 Batch 성능과 OOD 여부를 함께 확인한다.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5a7fc6f404300"/>
          <a:stretch xmlns:a="http://schemas.openxmlformats.org/drawingml/2006/main"/>
        </p:blipFill>
        <p:spPr>
          <a:xfrm xmlns:a="http://schemas.openxmlformats.org/drawingml/2006/main">
            <a:off x="0" y="885"/>
            <a:ext cx="12179332" cy="6856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24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2026-10-02T00:34:00.1010000Z</dcterms:created>
  <dcterms:modified xsi:type="dcterms:W3CDTF">2026-10-02T00:34:00.1010000Z</dcterms:modified>
</coreProperties>
</file>