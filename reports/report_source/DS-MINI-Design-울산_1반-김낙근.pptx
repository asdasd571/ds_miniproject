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7613844924a78" /><Relationship Type="http://schemas.openxmlformats.org/officeDocument/2006/relationships/extended-properties" Target="/docProps/app.xml" Id="R32f2b9cbeec846f3" /><Relationship Type="http://schemas.openxmlformats.org/officeDocument/2006/relationships/officeDocument" Target="/ppt/presentation.xml" Id="R78e5b79c90bc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4761e36cf04f0e"/>
  </p:sldMasterIdLst>
  <p:notesMasterIdLst>
    <p:notesMasterId xmlns:r="http://schemas.openxmlformats.org/officeDocument/2006/relationships" r:id="R0d66fa9e9edf4f46"/>
  </p:notesMasterIdLst>
  <p:sldIdLst>
    <p:sldId xmlns:r="http://schemas.openxmlformats.org/officeDocument/2006/relationships" id="256" r:id="R5d6919a213b14dc4"/>
    <p:sldId xmlns:r="http://schemas.openxmlformats.org/officeDocument/2006/relationships" id="257" r:id="Rc8aadfaaf3ed42c0"/>
    <p:sldId xmlns:r="http://schemas.openxmlformats.org/officeDocument/2006/relationships" id="258" r:id="Rf8ec939c28f94293"/>
    <p:sldId xmlns:r="http://schemas.openxmlformats.org/officeDocument/2006/relationships" id="259" r:id="R325be580e49d4090"/>
    <p:sldId xmlns:r="http://schemas.openxmlformats.org/officeDocument/2006/relationships" id="260" r:id="R16250d43c969466e"/>
    <p:sldId xmlns:r="http://schemas.openxmlformats.org/officeDocument/2006/relationships" id="261" r:id="R183d951afbf84f82"/>
    <p:sldId xmlns:r="http://schemas.openxmlformats.org/officeDocument/2006/relationships" id="262" r:id="R4a131545c62b4f19"/>
    <p:sldId xmlns:r="http://schemas.openxmlformats.org/officeDocument/2006/relationships" id="263" r:id="Red90ee68857b4edf"/>
    <p:sldId xmlns:r="http://schemas.openxmlformats.org/officeDocument/2006/relationships" id="264" r:id="R8a9e9c320a6e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0f955cc3864f0f" /><Relationship Type="http://schemas.openxmlformats.org/officeDocument/2006/relationships/slideMaster" Target="/ppt/slideMasters/slideMaster1.xml" Id="R6d4761e36cf04f0e" /><Relationship Type="http://schemas.openxmlformats.org/officeDocument/2006/relationships/notesMaster" Target="/ppt/notesMasters/notesMaster1.xml" Id="R0d66fa9e9edf4f46" /><Relationship Type="http://schemas.openxmlformats.org/officeDocument/2006/relationships/presProps" Target="/ppt/presProps.xml" Id="R0f2ee98dfc3242b1" /><Relationship Type="http://schemas.openxmlformats.org/officeDocument/2006/relationships/tableStyles" Target="/ppt/tableStyles.xml" Id="Rbdbf8294c79d46f9" /><Relationship Type="http://schemas.openxmlformats.org/officeDocument/2006/relationships/slide" Target="/ppt/slides/slide1.xml" Id="R5d6919a213b14dc4" /><Relationship Type="http://schemas.openxmlformats.org/officeDocument/2006/relationships/slide" Target="/ppt/slides/slide2.xml" Id="Rc8aadfaaf3ed42c0" /><Relationship Type="http://schemas.openxmlformats.org/officeDocument/2006/relationships/slide" Target="/ppt/slides/slide3.xml" Id="Rf8ec939c28f94293" /><Relationship Type="http://schemas.openxmlformats.org/officeDocument/2006/relationships/slide" Target="/ppt/slides/slide4.xml" Id="R325be580e49d4090" /><Relationship Type="http://schemas.openxmlformats.org/officeDocument/2006/relationships/slide" Target="/ppt/slides/slide5.xml" Id="R16250d43c969466e" /><Relationship Type="http://schemas.openxmlformats.org/officeDocument/2006/relationships/slide" Target="/ppt/slides/slide6.xml" Id="R183d951afbf84f82" /><Relationship Type="http://schemas.openxmlformats.org/officeDocument/2006/relationships/slide" Target="/ppt/slides/slide7.xml" Id="R4a131545c62b4f19" /><Relationship Type="http://schemas.openxmlformats.org/officeDocument/2006/relationships/slide" Target="/ppt/slides/slide8.xml" Id="Red90ee68857b4edf" /><Relationship Type="http://schemas.openxmlformats.org/officeDocument/2006/relationships/slide" Target="/ppt/slides/slide9.xml" Id="R8a9e9c320a6e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ed999cca64b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274d511cf4a0a" /><Relationship Type="http://schemas.openxmlformats.org/officeDocument/2006/relationships/notesMaster" Target="/ppt/notesMasters/notesMaster1.xml" Id="Rf44647d14c5141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003dd9f700491c" /><Relationship Type="http://schemas.openxmlformats.org/officeDocument/2006/relationships/notesMaster" Target="/ppt/notesMasters/notesMaster1.xml" Id="R6c955e58611449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c4bad9b0242a6" /><Relationship Type="http://schemas.openxmlformats.org/officeDocument/2006/relationships/notesMaster" Target="/ppt/notesMasters/notesMaster1.xml" Id="Ra217675497c7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135f4ff084883" /><Relationship Type="http://schemas.openxmlformats.org/officeDocument/2006/relationships/notesMaster" Target="/ppt/notesMasters/notesMaster1.xml" Id="R126091d0f7a240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cce332e9f4445" /><Relationship Type="http://schemas.openxmlformats.org/officeDocument/2006/relationships/notesMaster" Target="/ppt/notesMasters/notesMaster1.xml" Id="Rc9588924744044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4ae09b80f647ff" /><Relationship Type="http://schemas.openxmlformats.org/officeDocument/2006/relationships/notesMaster" Target="/ppt/notesMasters/notesMaster1.xml" Id="R563a805687fb4c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edeb8d399f4be0" /><Relationship Type="http://schemas.openxmlformats.org/officeDocument/2006/relationships/notesMaster" Target="/ppt/notesMasters/notesMaster1.xml" Id="Ra03725d1dc394d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f5fc49ed934ed2" /><Relationship Type="http://schemas.openxmlformats.org/officeDocument/2006/relationships/notesMaster" Target="/ppt/notesMasters/notesMaster1.xml" Id="R31c2a667a12f49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4bb6f9eb754697" /><Relationship Type="http://schemas.openxmlformats.org/officeDocument/2006/relationships/notesMaster" Target="/ppt/notesMasters/notesMaster1.xml" Id="Rc51b44caa4a948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 and supplied MIT-Stanford MAT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results/tables/cycle_life_summary.csv and cycle-life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results/figures/eda_degradation_curve.png and feature_target_correlations.csv.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results/figures/eda_delta_q_curve.png, eda_delta_q_vs_cycle_life.png, and actual Batch 1 correlations.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results/figures/eda_charging_policy.png and feature_target_correlations.csv.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results/figures/eda_feature_target_corr.png and eda_feature_corr_heatmap.png.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src/features.py and results/feature_dataset_batch1.csv.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src/train.py and README modeling protocol. Test batches are excluded from selection and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synthesis of EDA findings and the requested ESS implications. No new quantitative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1f7f2a67f4f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dc19e2c8c45b8" /><Relationship Type="http://schemas.openxmlformats.org/officeDocument/2006/relationships/slideLayout" Target="/ppt/slideLayouts/slideLayout1.xml" Id="Rcc0f4477d34043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0f4477d34043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1132bf7a64007" /><Relationship Type="http://schemas.openxmlformats.org/officeDocument/2006/relationships/notesSlide" Target="/ppt/notesSlides/notesSlide1.xml" Id="R9778a16c9d684f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ee5fa83524dfc" /><Relationship Type="http://schemas.openxmlformats.org/officeDocument/2006/relationships/image" Target="/ppt/media/image.png" Id="Re4ce5330de504c66" /><Relationship Type="http://schemas.openxmlformats.org/officeDocument/2006/relationships/image" Target="/ppt/media/image2.png" Id="R0506c1d901a3456a" /><Relationship Type="http://schemas.openxmlformats.org/officeDocument/2006/relationships/notesSlide" Target="/ppt/notesSlides/notesSlide2.xml" Id="Re020070458fc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e000889e44da5" /><Relationship Type="http://schemas.openxmlformats.org/officeDocument/2006/relationships/image" Target="/ppt/media/image3.png" Id="Rb8751909bb3140af" /><Relationship Type="http://schemas.openxmlformats.org/officeDocument/2006/relationships/notesSlide" Target="/ppt/notesSlides/notesSlide3.xml" Id="R82a670fa6be149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ee03f8bc64ff5" /><Relationship Type="http://schemas.openxmlformats.org/officeDocument/2006/relationships/image" Target="/ppt/media/image4.png" Id="R154691854c2e4a92" /><Relationship Type="http://schemas.openxmlformats.org/officeDocument/2006/relationships/image" Target="/ppt/media/image5.png" Id="R816439dc19da41a6" /><Relationship Type="http://schemas.openxmlformats.org/officeDocument/2006/relationships/notesSlide" Target="/ppt/notesSlides/notesSlide4.xml" Id="R0ceccf898f73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58f57d8bd4480" /><Relationship Type="http://schemas.openxmlformats.org/officeDocument/2006/relationships/image" Target="/ppt/media/image6.png" Id="R2a4ba174925a4c40" /><Relationship Type="http://schemas.openxmlformats.org/officeDocument/2006/relationships/notesSlide" Target="/ppt/notesSlides/notesSlide5.xml" Id="Rb3ef506981af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d690a7ded420f" /><Relationship Type="http://schemas.openxmlformats.org/officeDocument/2006/relationships/image" Target="/ppt/media/image7.png" Id="Rd4b5e24845394e6b" /><Relationship Type="http://schemas.openxmlformats.org/officeDocument/2006/relationships/image" Target="/ppt/media/image8.png" Id="Rd8446b2de904426b" /><Relationship Type="http://schemas.openxmlformats.org/officeDocument/2006/relationships/notesSlide" Target="/ppt/notesSlides/notesSlide6.xml" Id="Ra8de115c1d3a42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11024b1604ac6" /><Relationship Type="http://schemas.openxmlformats.org/officeDocument/2006/relationships/notesSlide" Target="/ppt/notesSlides/notesSlide7.xml" Id="R441052f0724242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bdb623a26466f" /><Relationship Type="http://schemas.openxmlformats.org/officeDocument/2006/relationships/notesSlide" Target="/ppt/notesSlides/notesSlide8.xml" Id="R5359050ef7d048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373398cc34811" /><Relationship Type="http://schemas.openxmlformats.org/officeDocument/2006/relationships/notesSlide" Target="/ppt/notesSlides/notesSlide9.xml" Id="Re47fbde9325f46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E2EFC-9AC3-4D1F-88BD-597DD2D7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ESS 배터리 수명 예측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AE1BC-5091-483F-83C4-EB223E71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99A65-1E68-4E6B-AA15-FA3A056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A89BC-DFB4-4625-87AC-4591726C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초기 열화 신호로 ESS 배터리 수명을 예측할 수 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83E0E-F714-42A5-B6E4-B43280A1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MIT-Stanford 배터리 데이터셋 · 초기 100 Cycle · Cell 단위 회귀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E8B1A-2B42-430F-91E7-E21D1835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EBF63-7F9D-48DB-BBE1-827C5A60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분석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D6460-9AE0-41E2-AB4B-03FD941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수명 종료까지 기다리지 않고 초기 충방전 신호로 장기 Cycle Life를 추정한다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113A2-8515-40D8-A20C-DFB90849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7FE7D-F0D1-44A1-B87A-266378E9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3AC4C-E24C-408D-A050-67E27BD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990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Cycle 1-100의 QD, Qdlin, IR, 온도, 충전시간과 충전 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A0DB1-68A3-425F-AB7E-F040C82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F7996-F41D-41BE-B7D7-FB18341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목표값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8C76-48BE-461C-B4A0-6607503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2990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cycle_life</a:t>
            </a:r>
          </a:p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Cell이 EOL에 도달하기까지의 총 Cycle 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9FDDB-E101-42B7-B6CD-22AC1E14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771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8B131-BA92-442E-A638-A149F6D6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1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8571A-B2F3-497C-8A95-7CEF65DC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Batch 1에서 모델 선택</a:t>
            </a:r>
          </a:p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Batch 2와 3은 외부 일반화 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71395-293C-4FC9-92F8-561D5ED1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ESS 적용 관점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980BA-7AD2-43E9-B0BB-9F49CFB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578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교체 계획과 예방 정비를 위해 조기 위험 Cell을 선별할 수 있는지 검증</a:t>
            </a:r>
          </a:p>
        </p:txBody>
      </p:sp>
    </p:spTree>
    <p:extLst>
      <p:ext uri="{BB962C8B-B14F-4D97-AF65-F5344CB8AC3E}">
        <p14:creationId xmlns:p14="http://schemas.microsoft.com/office/powerpoint/2010/main" val="1605214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8C5DC-E108-420F-8294-B8FE84F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EDA 01  ·  목표값 분포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6ED2-CF43-4041-ACDD-102B0794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E863D-83CF-4215-A61C-FCD43214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FF0E3-D6C5-4049-B8CE-BC98E5D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Batch별 수명 분포가 크게 다르다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043E3-B8A1-428D-89E5-0DF1C1EB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분석 질문  ·  Batch 1에서 학습한 관계가 Batch 2와 3에서도 유지되는가?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55D49-34DA-4CEB-9E5D-E7C2369B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8768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e5330de504c66"/>
          <a:stretch xmlns:a="http://schemas.openxmlformats.org/drawingml/2006/main"/>
        </p:blipFill>
        <p:spPr>
          <a:xfrm xmlns:a="http://schemas.openxmlformats.org/drawingml/2006/main">
            <a:off x="1347788" y="1733550"/>
            <a:ext cx="3286125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C88B-2ACC-4A2E-A8AC-2EE11218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48768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6c1d901a3456a"/>
          <a:stretch xmlns:a="http://schemas.openxmlformats.org/drawingml/2006/main"/>
        </p:blipFill>
        <p:spPr>
          <a:xfrm xmlns:a="http://schemas.openxmlformats.org/drawingml/2006/main">
            <a:off x="1588770" y="4191000"/>
            <a:ext cx="2804160" cy="1752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ED5FE-EFF7-4793-9890-6608DC07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8DD8D-F3D3-4326-A301-4802DA0F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907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핵심 발견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81CBB-D439-4D0C-97AD-F8DFD5C7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518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중앙값은 Batch 1 842.0, Batch 2 468.5, Batch 3 964.5 cycles다. Batch 2의 76.5%가 500 cycle 미만이다.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D01C2-2351-44D2-BD8E-9AA0FF2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552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EF532-9FD3-4621-B075-A3C11454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ESS 시사점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6F1D5-2351-4CC8-B517-5DB0D1E6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8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실제 ESS에서도 운전환경이나 사용조건이 달라지면 학습 데이터와 현장 데이터 사이에 분포 이동이 발생할 수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47334-3210-4566-939F-1C1B0130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5524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05ED3-E5B2-43F0-BC3F-A6F7EF99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482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모델링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C39B9-57EB-401A-AE36-CD57A27C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95850"/>
            <a:ext cx="5181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Batch 1에서만 모델을 선택하고 튜닝한다. Batch 2는 단수명 영역 외부 테스트, Batch 3는 장수명 영역 추가 외부 테스트로 사용한다.</a:t>
            </a:r>
          </a:p>
        </p:txBody>
      </p:sp>
    </p:spTree>
    <p:extLst>
      <p:ext uri="{BB962C8B-B14F-4D97-AF65-F5344CB8AC3E}">
        <p14:creationId xmlns:p14="http://schemas.microsoft.com/office/powerpoint/2010/main" val="717306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E7E98-DEE8-46D0-8C49-18AED13A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EDA 02  ·  용량 열화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1BF2F-F6A7-4554-9129-D4AB37E1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5B2C8-E48A-423A-81A9-C30FDCB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12C03-6A04-4646-8D1C-F2562C4B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초기 용량 절대값만으로 장기 수명을 구분하기 어렵다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91A82-5558-4117-8D41-A179CA49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분석 질문  ·  장수명 Cell과 단수명 Cell은 초기 열화 구간에서 어떻게 다른가?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93169-EA48-4420-BCF2-B7ACEA1A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3055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51909bb3140af"/>
          <a:stretch xmlns:a="http://schemas.openxmlformats.org/drawingml/2006/main"/>
        </p:blipFill>
        <p:spPr>
          <a:xfrm xmlns:a="http://schemas.openxmlformats.org/drawingml/2006/main">
            <a:off x="919163" y="1752600"/>
            <a:ext cx="5572125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DDDF7-AC89-4AE1-BD90-5922377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분석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C80AB-EAF5-49E0-B994-771C352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qd_10 vs cycle_life  ·  Pearson r = 0.101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9B72C-19D0-45FE-AC78-87AED56E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59697-D521-43B0-96A7-EE43FDC8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핵심 발견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A522E-B7B3-43CD-A554-5F785FF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752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초기 QD 곡선은 상당 부분 겹치며 특정 Cycle의 용량 절대값과 수명의 관계가 약하다.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B8CB9-6892-4FF2-8459-1C1B2D68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095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68CEC-DFDD-48A8-AF4E-D3668CD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ESS 시사점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02ED6-E4B2-4681-AEB1-276103A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3752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한 시점의 용량만으로 장기 수명을 판단하기보다 초기 운전 구간의 열화 변화 추세를 추적해야 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916E2-3583-43CA-AAE0-F3279F4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700"/>
            <a:ext cx="4095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878AA-948E-4343-81EF-46357BE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모델링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394E8-D8B6-4197-89FC-ACFE5A48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196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qd_change, qd_slope와 전압별 곡선 변화인 ΔQ(V)를 생성한다.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89205-1DAE-4295-AA19-14C877C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76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다음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EA720-84E5-4E7E-B962-D2F4F5E2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007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초기 10-100 Cycle의 미세한 Curve 변화는 수명을 설명하는가?</a:t>
            </a:r>
          </a:p>
        </p:txBody>
      </p:sp>
    </p:spTree>
    <p:extLst>
      <p:ext uri="{BB962C8B-B14F-4D97-AF65-F5344CB8AC3E}">
        <p14:creationId xmlns:p14="http://schemas.microsoft.com/office/powerpoint/2010/main" val="1580624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5492F-A899-40D3-AE9F-36DDCA34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EDA 03  ·  ΔQ(V)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C0EEB-6D7D-4C96-878B-45CD3D72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83C34-4266-48B1-ACB2-898C901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B79E0-CD10-4D6A-9578-0EDBA1C8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ΔQ(V)는 초기 수명 구간에서 장기 수명 위험을 구분한다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7962-D43C-489F-B7C6-4BC8F22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분석 질문  ·  Cycle 10과 100 사이의 방전곡선 변화가 Cycle Life와 연결되는가?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C080F-7B4D-47F5-9F06-5A76CB92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2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14562-BBF9-4ACF-B75F-C0F45B71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ΔQ₁₀₀₋₁₀(V) = Q₁₀₀(V) - Q₁₀(V)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AE0FE-0889-4DCA-8938-F6C7BA04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52600"/>
            <a:ext cx="567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QD 단일값 차이가 아니라 공통 전압 격자에서 계산한 Qdlin 곡선의 지점별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B4151-A30E-485B-A849-F50BF19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4591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691854c2e4a92"/>
          <a:stretch xmlns:a="http://schemas.openxmlformats.org/drawingml/2006/main"/>
        </p:blipFill>
        <p:spPr>
          <a:xfrm xmlns:a="http://schemas.openxmlformats.org/drawingml/2006/main">
            <a:off x="1019175" y="2552700"/>
            <a:ext cx="3657600" cy="2438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4E81D-2C70-4A75-8AE6-CBA4BA7A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4210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439dc19da41a6"/>
          <a:stretch xmlns:a="http://schemas.openxmlformats.org/drawingml/2006/main"/>
        </p:blipFill>
        <p:spPr>
          <a:xfrm xmlns:a="http://schemas.openxmlformats.org/drawingml/2006/main">
            <a:off x="5598795" y="2552700"/>
            <a:ext cx="3413760" cy="24384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82C45-2EDC-4EAA-9D04-4793A01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1714500" cy="24384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D10F3-8789-42A7-82BA-7211AA1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Pearson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920C9-6C9A-4D03-A595-496B048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4C4C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C94C4C"/>
                </a:solidFill>
                <a:latin typeface="Pretendard"/>
                <a:ea typeface="Pretendard"/>
                <a:cs typeface="Pretendard"/>
              </a:rPr>
              <a:t>-0.886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7048F-9F5B-4B22-952C-33E43CE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Spearman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C5869-1B38-42D1-A266-B19630D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-0.880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CE2DE-2830-4B3D-B9D4-2D3D276B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85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F1EC6-7D9D-4169-8477-3E3BAD5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ESS 시사점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7C5A9-7849-478B-A13A-A95B6A0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651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배터리 수명 종료까지 기다리지 않고 초기 수명 데이터만으로 장기 열화 위험 Cell을 조기에 선별할 가능성을 보여준다.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95D37-E353-4489-8C6F-C3A53602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19700"/>
            <a:ext cx="3562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0B613-AD0A-4380-8856-9658AB0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340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모델링 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6C4BA-D0B5-4B56-ADBA-72455FBA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8165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log_dq_var를 핵심 Feature 후보로 선정한다.</a:t>
            </a:r>
          </a:p>
        </p:txBody>
      </p:sp>
    </p:spTree>
    <p:extLst>
      <p:ext uri="{BB962C8B-B14F-4D97-AF65-F5344CB8AC3E}">
        <p14:creationId xmlns:p14="http://schemas.microsoft.com/office/powerpoint/2010/main" val="387822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69D12-DB25-400A-879B-74DB55D1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EDA 04  ·  충전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27E41-77EA-48FC-8685-E10EE625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75D52-B101-4B18-85AE-56C3D5B5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CA865-5E01-4593-965E-18F2A4E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수명 예측에는 Cell 상태와 충전 운전조건이 함께 필요하다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871FD-CCCA-4AC0-B9EE-A1D7B4B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분석 질문  ·  충전 Protocol에 따라 Cycle Life 분포가 달라지는가?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F2C2F-CF39-4023-8B59-273D9D75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496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ba174925a4c40"/>
          <a:stretch xmlns:a="http://schemas.openxmlformats.org/drawingml/2006/main"/>
        </p:blipFill>
        <p:spPr>
          <a:xfrm xmlns:a="http://schemas.openxmlformats.org/drawingml/2006/main">
            <a:off x="609600" y="1966913"/>
            <a:ext cx="6381750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1BA16-ABDD-4D73-A84F-CB681ED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충전 정책 분해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58D9F-1DF4-4165-B220-929AF904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054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4.8C(80%)-3.6C  →  first_c_rate 4.8  /  switch_soc 0.8  /  second_c_rate 3.6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A838B-BE26-456C-8562-8723B0D2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71650"/>
            <a:ext cx="3905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E477E-7214-4B30-9894-2754938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859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핵심 발견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D3BA9-A91C-4A21-9C2A-CB5F39F1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562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first_c_rate와 Cycle Life 사이에 Pearson r = -0.577의 연관이 관찰됐다.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79C75-65D3-461E-91EF-45717530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3905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423DA-0292-4633-9054-E037B7C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ESS 시사점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666C6-9EB7-4DEC-9DD8-03903457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14700"/>
            <a:ext cx="3562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실제 ESS 수명 예측은 열화 상태뿐 아니라 충전 운전조건도 함께 고려해야 한다. 상관관계를 인과관계로 확대 해석하지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F1C32-AF0E-41F4-A79C-C2050363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3905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A565F-3450-4083-9AE1-6AE77C91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356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모델링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2D78D-57F3-4852-BEA4-962F537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76800"/>
            <a:ext cx="3562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C-rate Feature를 포함하고 charging_policy를 고려한 그룹 분할을 적용한다.</a:t>
            </a:r>
          </a:p>
        </p:txBody>
      </p:sp>
    </p:spTree>
    <p:extLst>
      <p:ext uri="{BB962C8B-B14F-4D97-AF65-F5344CB8AC3E}">
        <p14:creationId xmlns:p14="http://schemas.microsoft.com/office/powerpoint/2010/main" val="59292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82447-D90B-48F2-894A-38F8D80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EDA 05  ·  Feature 상관관계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3B850-4D03-4138-A506-16F7BB2C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A1E7E-E9B1-4987-86D0-FC8DDB8F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F2D3-B473-422B-9768-686EAA98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강한 ΔQ 신호에는 중복 정보도 함께 존재한다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676F3-847A-4590-8E6E-8711C7AC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분석 질문  ·  어떤 초기 신호가 수명과 관련 있고, Feature끼리는 얼마나 중복되는가?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51725-B345-4A86-9F01-7F0C48A0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40195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5e24845394e6b"/>
          <a:stretch xmlns:a="http://schemas.openxmlformats.org/drawingml/2006/main"/>
        </p:blipFill>
        <p:spPr>
          <a:xfrm xmlns:a="http://schemas.openxmlformats.org/drawingml/2006/main">
            <a:off x="609600" y="1919817"/>
            <a:ext cx="3905250" cy="303741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5CB69-8910-424B-8E5F-7B8FE30F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40195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46b2de904426b"/>
          <a:stretch xmlns:a="http://schemas.openxmlformats.org/drawingml/2006/main"/>
        </p:blipFill>
        <p:spPr>
          <a:xfrm xmlns:a="http://schemas.openxmlformats.org/drawingml/2006/main">
            <a:off x="4686300" y="1786304"/>
            <a:ext cx="3905250" cy="330444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F22C3-47AC-4A48-BF15-C8F7812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9819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0F004-C438-4EAE-8642-7306AD0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7639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dq_std -0.896   ·   log_dq_var -0.886   ·   dq_range -0.884   ·   dq_min +0.883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C1122-37FE-4C55-9181-C8B4AB6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551DC-69A1-4245-AE47-67CAC6D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핵심 발견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A64F6-9863-400E-BE4E-11606F5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ΔQ Feature들은 Cycle Life와 높은 상관을 보이지만 서로도 강하게 연관된다.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3F76E-988D-4C37-94D4-838EB8F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381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50D5F-D692-4655-8745-1ECE0804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ESS 시사점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F0422-CF3F-4669-BC08-E2332090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유사한 열화 신호를 무작정 늘리기보다 대표 지표를 선택해 안정적인 예측 모델을 구성해야 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104D2-0268-4F22-804A-54EC038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4F104-FE76-45C5-BF5A-AB30DA0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모델링 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2989B-47E2-4417-B5F6-C1D98EC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5300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Feature Selection 또는 Regularization을 적용한다.</a:t>
            </a:r>
          </a:p>
        </p:txBody>
      </p:sp>
    </p:spTree>
    <p:extLst>
      <p:ext uri="{BB962C8B-B14F-4D97-AF65-F5344CB8AC3E}">
        <p14:creationId xmlns:p14="http://schemas.microsoft.com/office/powerpoint/2010/main" val="535824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EB48DB-3388-45B9-8183-454A5B9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FEATURE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0CBF8-9B1C-4B5D-A2EE-FF017D4A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FBD6A-F915-41BC-BDBD-0B9F2BDC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F737E-7AA3-4EB5-82B9-AB3828C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EDA 결과를 Cell-level Feature로 구조화한다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0B05C-9969-4E89-BC09-77E3409D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한 Cell을 한 행으로 만들고 세 Batch에 동일한 Feature 생성 절차를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90FBC-04E2-481E-98D2-2F743458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661CB-64BE-4277-9185-0AA1A2B3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EDA 관찰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D1709-0C93-41C3-AD9E-FC54A688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52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F9B8A-BF45-4193-9D97-5E49C24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생성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BB52D-F2FD-4C5A-9DF9-68D93655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B9B0C-B6BA-410D-971B-883F4D51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초기 QD 절대값의 구분력이 낮음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FF7BF-C16E-41A8-A96A-A2B7F4E5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05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변화 속도와 누적 변화를 표현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0E8B5-B2DF-4E74-B062-D43775F6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050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qd_change · qd_slope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A44E3-F56C-432D-8983-F595391C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50BFE-BA85-423B-A82C-EF04C96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ΔQ(V)와 수명의 관계가 강함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70EEF-D20E-432A-ABFA-6CE222C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99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Early-life 열화 형태를 요약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2D061-E954-4239-8EC1-8EFEA342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log_dq_var · dq_min · dq_range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7DA79-B139-48C7-A1F8-EF4F1635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42D47-1A74-4B81-BF5E-D29BA370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IR과 온도는 보조 신호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EE283-8400-4CC1-A04C-9FAA1256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14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전기적·열적 상태 변화를 포함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1EBA6-D680-4506-831E-6DAA6D9D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147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ir_change · tavg_mean · tmax_max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649E1-6964-4F3F-82C7-F8C031DD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29938-97A3-4FA7-9D54-F6090E9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충전 Protocol별 분포 차이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09589-1D26-45D5-81A8-00C7F9DF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19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운전조건을 Cell 상태와 함께 반영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137C6-47E9-4AA1-BCC3-99DF85A5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first_c_rate · switch_soc · second_c_rate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EEEA2-F4EE-484D-92AA-C57DE5F4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5AF67-41E4-4411-84E8-D4A00738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ΔQ Feature끼리 중복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1E07C-FDAF-4E3F-9C8E-3CA7F4E9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244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대표 Feature 선택과 규제가 필요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F0974-C5DF-460A-BBC7-C926ED7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244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Feature Selection · Regularization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1F4AC-77D5-43F0-A76F-D0F1F0B9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F1B47D-3999-491D-A94F-AB6F3D7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출력 구조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F138B-F331-4325-968D-A9D5CF2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245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cell_id · cycle_life · log_dq_var · qd_slope · ir_change · temperature · C-rate</a:t>
            </a:r>
          </a:p>
        </p:txBody>
      </p:sp>
    </p:spTree>
    <p:extLst>
      <p:ext uri="{BB962C8B-B14F-4D97-AF65-F5344CB8AC3E}">
        <p14:creationId xmlns:p14="http://schemas.microsoft.com/office/powerpoint/2010/main" val="696876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230306-F933-40BF-BAE1-FE9EB53B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모델링 전략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1CAFE-7513-4718-9BD6-8F3E9A26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60BEB-ADD1-4C12-9214-C480FDC6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EFF79-60E2-4F3D-87FE-A9B17D0F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소규모 정형 데이터셋에 맞는 모델과 검증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D8CAA-703C-4BA9-8721-26534E4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Feature와 하이퍼파라미터는 Batch 1에서만 결정하고 테스트 Batch는 최종 평가에만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5BCE-6629-4113-B513-8ECBD08B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모델 후보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3AA40-1FFF-417E-9C73-2F91887E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47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B31DE-2C4A-428D-9920-58EC275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Linear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186DA-0557-4C09-93ED-2C0FE07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기준 모델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F55A3-FD07-49D2-B8E0-F55D68C7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선형 관계의 기준 성능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FD26B-1A6A-4C6D-8712-3EDA9BA7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38350"/>
            <a:ext cx="2247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008C8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9F717-01C6-4869-82FF-637A082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ElasticNet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EBDDF-7A48-4FE0-83DD-A9BF2D06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주요 후보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BE85B-A846-4492-AF2E-86907E5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다중공선성과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CE7F4-35D0-4509-A2FA-9143AE1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22479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12F67-92E6-47F0-AB1F-4DF41FFA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90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Gradient Boosting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9D3DF-BB4E-45BA-863B-86EA770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비선형 비교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992CF-EBB9-44E3-8516-B8E70EA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비선형 관계, 제한된 복잡도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BD598-6D2E-402E-A7B1-A668EBD1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16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AA9B4-35E6-4CCA-BB58-81351392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81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딥러닝보다 전통 ML을 우선하는 이유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1BA23-3C27-4F7C-8DB6-7B7D0F9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681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약 100개 Cell의 소규모 정형 데이터셋이다. 생성 Feature 기반 분석에서는 고복잡도 모델의 과적합 위험이 높다.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1E394-5E79-4342-8963-4672DF6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검증 구조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1A324-96B8-406B-AA60-6E76B4BA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533BF-E109-4D24-968B-1DCD5C07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BATCH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348C6-2819-4343-BFCF-E815028C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학습 +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03F08-B785-4BA9-832D-B3225537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모델 선택 · 스케일링 · 튜닝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9485E-CDA2-4AC6-9D06-76999611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436AB-5579-4A10-B9FA-DADF466D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BATCH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00960-E766-44C3-93AA-8CDDC428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외부 테스트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91D49F-2CC8-4E6B-8805-FE8D233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단수명 영역 · 선택에 사용하지 않음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30063-54C8-48C7-8730-994DB7E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79F08-C489-4F6F-88CB-838FC98C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BATCH 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7B279-DD51-4BD8-B473-5032C2C0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추가 외부 테스트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A3BB1-E42D-40F1-A326-D434AEA1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910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장수명 영역 · 추가 일반화 검증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C90455-DAC0-4820-AA11-FE4A14CF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16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7128B6-4AE6-46F7-AC3F-55223FC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소규모 정형 데이터셋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104A90-5EEF-4D3B-B6BC-C9621734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57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전통 ML 우선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FC6F2-97AF-4D12-BDF8-6E11D64B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검증 결과로 최종 선택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DB572A-1965-488A-A437-B0E00889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716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목표값  log(cycle_life)  ·  평가지표  역변환 후 원 Cycle 단위 MAPE</a:t>
            </a:r>
          </a:p>
        </p:txBody>
      </p:sp>
    </p:spTree>
    <p:extLst>
      <p:ext uri="{BB962C8B-B14F-4D97-AF65-F5344CB8AC3E}">
        <p14:creationId xmlns:p14="http://schemas.microsoft.com/office/powerpoint/2010/main" val="1952398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4B89B-4A4C-47D2-A8DE-D9F9166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37BCE-B526-45ED-B308-7ED52199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4A0AA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13706-FD7D-4533-9FD1-AA901F08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37FD6-9999-4F8B-A610-1119C51E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ESS 수명 예측을 위한 네 가지 핵심 시사점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6CC17-2C7D-49E4-94E6-0505D9EE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5F6B76"/>
                </a:solidFill>
                <a:latin typeface="Pretendard"/>
                <a:ea typeface="Pretendard"/>
                <a:cs typeface="Pretendard"/>
              </a:rPr>
              <a:t>EDA 결과를 현장 적용 관점과 모델 검증 전략으로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02C08-A86A-44C3-BE04-5A9EB918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162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32550-CF9C-43C3-8386-4D725624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C9DEE-E192-4CED-AC76-5B3B1CAE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66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조기 예측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A26BD-B8EF-4479-BD9A-577E5D2A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초기 Cycle 데이터로 장기 배터리 수명 위험을 조기에 구분할 가능성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46146-052D-440B-BDC8-5F6D927C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5162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E82FD-770D-4486-9850-F5D9D6D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66E16-1EF8-44AF-9EE3-59D9B93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절대값보다 추세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D046E-4633-4D77-A01F-AECC5708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단일 용량값보다 초기 열화 변화 패턴을 추적하는 것이 중요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4B072-62C9-4060-A4C1-682DF7D8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162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469EE-6C92-4A5B-97B5-7EAF59A2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C8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F01E8-471C-4416-A10C-51BFB9F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운전조건의 중요성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0E4F6-2165-4F8E-8770-C65EA690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배터리 상태와 충전 운전조건을 함께 고려해야 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19D7C-D679-4D4D-985E-F2D9A1E1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67100"/>
            <a:ext cx="51625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26299-C68B-4066-8210-C12037A2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7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E97827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B5454-D4D8-4DC8-AB61-93C7056B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324D"/>
                </a:solidFill>
                <a:latin typeface="Pretendard"/>
                <a:ea typeface="Pretendard"/>
                <a:cs typeface="Pretendard"/>
              </a:rPr>
              <a:t>일반화 검증의 중요성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36CBB-DD74-48C9-8B9B-9BFDE668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576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1F2933"/>
                </a:solidFill>
                <a:latin typeface="Pretendard"/>
                <a:ea typeface="Pretendard"/>
                <a:cs typeface="Pretendard"/>
              </a:rPr>
              <a:t>다른 운전조건에서도 유지되는 외부 Batch 성능을 검증해야 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F9B1B-CAAE-4781-A91D-C0C85242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591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3FFCF-A259-4D42-9B5D-4EFF567A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17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초기 열화 패턴과 운전조건을 결합한 Cell 단위 Feature를 구축하고, 외부 Batch 일반화 성능을 중심으로 수명 예측 모델을 검증한다.</a:t>
            </a:r>
          </a:p>
        </p:txBody>
      </p:sp>
    </p:spTree>
    <p:extLst>
      <p:ext uri="{BB962C8B-B14F-4D97-AF65-F5344CB8AC3E}">
        <p14:creationId xmlns:p14="http://schemas.microsoft.com/office/powerpoint/2010/main" val="648493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2026-10-01T04:41:43.1770000Z</dcterms:created>
  <dcterms:modified xsi:type="dcterms:W3CDTF">2026-10-01T04:41:43.1770000Z</dcterms:modified>
</coreProperties>
</file>