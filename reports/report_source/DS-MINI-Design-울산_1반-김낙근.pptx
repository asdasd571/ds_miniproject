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4a85197a9a433f" /><Relationship Type="http://schemas.openxmlformats.org/officeDocument/2006/relationships/extended-properties" Target="/docProps/app.xml" Id="R4ae09ede75304cc1" /><Relationship Type="http://schemas.openxmlformats.org/officeDocument/2006/relationships/officeDocument" Target="/ppt/presentation.xml" Id="R452294447a5d45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a8fd3feaac4bd8"/>
  </p:sldMasterIdLst>
  <p:notesMasterIdLst>
    <p:notesMasterId xmlns:r="http://schemas.openxmlformats.org/officeDocument/2006/relationships" r:id="R9590e53f22154f35"/>
  </p:notesMasterIdLst>
  <p:sldIdLst>
    <p:sldId xmlns:r="http://schemas.openxmlformats.org/officeDocument/2006/relationships" id="256" r:id="R67576c7abd144c46"/>
    <p:sldId xmlns:r="http://schemas.openxmlformats.org/officeDocument/2006/relationships" id="257" r:id="Rdbcbeb4a71b84d74"/>
    <p:sldId xmlns:r="http://schemas.openxmlformats.org/officeDocument/2006/relationships" id="258" r:id="Rcb40d5d46b934937"/>
    <p:sldId xmlns:r="http://schemas.openxmlformats.org/officeDocument/2006/relationships" id="259" r:id="R4627a8baf54b435f"/>
    <p:sldId xmlns:r="http://schemas.openxmlformats.org/officeDocument/2006/relationships" id="260" r:id="Rf5a54d2f8a4249d6"/>
    <p:sldId xmlns:r="http://schemas.openxmlformats.org/officeDocument/2006/relationships" id="261" r:id="R865b008525554b26"/>
    <p:sldId xmlns:r="http://schemas.openxmlformats.org/officeDocument/2006/relationships" id="262" r:id="R8bede01cf01e434e"/>
    <p:sldId xmlns:r="http://schemas.openxmlformats.org/officeDocument/2006/relationships" id="263" r:id="Re1393190ce874433"/>
    <p:sldId xmlns:r="http://schemas.openxmlformats.org/officeDocument/2006/relationships" id="264" r:id="Ra10c569662f641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e62577ea804daf" /><Relationship Type="http://schemas.openxmlformats.org/officeDocument/2006/relationships/slideMaster" Target="/ppt/slideMasters/slideMaster1.xml" Id="Rd2a8fd3feaac4bd8" /><Relationship Type="http://schemas.openxmlformats.org/officeDocument/2006/relationships/notesMaster" Target="/ppt/notesMasters/notesMaster1.xml" Id="R9590e53f22154f35" /><Relationship Type="http://schemas.openxmlformats.org/officeDocument/2006/relationships/presProps" Target="/ppt/presProps.xml" Id="R834dfc7e79954b08" /><Relationship Type="http://schemas.openxmlformats.org/officeDocument/2006/relationships/tableStyles" Target="/ppt/tableStyles.xml" Id="R1327e0fe750446f9" /><Relationship Type="http://schemas.openxmlformats.org/officeDocument/2006/relationships/slide" Target="/ppt/slides/slide1.xml" Id="R67576c7abd144c46" /><Relationship Type="http://schemas.openxmlformats.org/officeDocument/2006/relationships/slide" Target="/ppt/slides/slide2.xml" Id="Rdbcbeb4a71b84d74" /><Relationship Type="http://schemas.openxmlformats.org/officeDocument/2006/relationships/slide" Target="/ppt/slides/slide3.xml" Id="Rcb40d5d46b934937" /><Relationship Type="http://schemas.openxmlformats.org/officeDocument/2006/relationships/slide" Target="/ppt/slides/slide4.xml" Id="R4627a8baf54b435f" /><Relationship Type="http://schemas.openxmlformats.org/officeDocument/2006/relationships/slide" Target="/ppt/slides/slide5.xml" Id="Rf5a54d2f8a4249d6" /><Relationship Type="http://schemas.openxmlformats.org/officeDocument/2006/relationships/slide" Target="/ppt/slides/slide6.xml" Id="R865b008525554b26" /><Relationship Type="http://schemas.openxmlformats.org/officeDocument/2006/relationships/slide" Target="/ppt/slides/slide7.xml" Id="R8bede01cf01e434e" /><Relationship Type="http://schemas.openxmlformats.org/officeDocument/2006/relationships/slide" Target="/ppt/slides/slide8.xml" Id="Re1393190ce874433" /><Relationship Type="http://schemas.openxmlformats.org/officeDocument/2006/relationships/slide" Target="/ppt/slides/slide9.xml" Id="Ra10c569662f641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71d4d5b5d04a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171ff1c37b44ba" /><Relationship Type="http://schemas.openxmlformats.org/officeDocument/2006/relationships/notesMaster" Target="/ppt/notesMasters/notesMaster1.xml" Id="R095321cc14d44b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5a9e32b9bd49c5" /><Relationship Type="http://schemas.openxmlformats.org/officeDocument/2006/relationships/notesMaster" Target="/ppt/notesMasters/notesMaster1.xml" Id="R41a07179d7d449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64be024263473e" /><Relationship Type="http://schemas.openxmlformats.org/officeDocument/2006/relationships/notesMaster" Target="/ppt/notesMasters/notesMaster1.xml" Id="R381e69d42db74c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4331eb81304264" /><Relationship Type="http://schemas.openxmlformats.org/officeDocument/2006/relationships/notesMaster" Target="/ppt/notesMasters/notesMaster1.xml" Id="R1cc8d1fb391446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fe7c60107340c2" /><Relationship Type="http://schemas.openxmlformats.org/officeDocument/2006/relationships/notesMaster" Target="/ppt/notesMasters/notesMaster1.xml" Id="R40f2e60b267b47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0e2ae03c804070" /><Relationship Type="http://schemas.openxmlformats.org/officeDocument/2006/relationships/notesMaster" Target="/ppt/notesMasters/notesMaster1.xml" Id="R3c8927ff53c248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165913418a4bc3" /><Relationship Type="http://schemas.openxmlformats.org/officeDocument/2006/relationships/notesMaster" Target="/ppt/notesMasters/notesMaster1.xml" Id="Ra48af2d40ff041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330c7461574f15" /><Relationship Type="http://schemas.openxmlformats.org/officeDocument/2006/relationships/notesMaster" Target="/ppt/notesMasters/notesMaster1.xml" Id="R59063c9c6bb347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6f0d531ca940f5" /><Relationship Type="http://schemas.openxmlformats.org/officeDocument/2006/relationships/notesMaster" Target="/ppt/notesMasters/notesMaster1.xml" Id="R303394290b7342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README and supplied MIT-Stanford MAT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results/tables/cycle_life_summary.csv and cycle-life figures.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results/figures/eda_degradation_curve.png and feature_target_correlations.csv.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results/figures/eda_delta_q_curve.png, eda_delta_q_vs_cycle_life.png, and actual Batch 1 correlations.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results/figures/eda_charging_policy.png and feature_target_correlations.csv.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results/figures/eda_feature_target_corr.png and eda_feature_corr_heatmap.png.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src/features.py and results/feature_dataset_batch1.csv.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src/train.py and README modeling protocol. Test batches are excluded from selection and tuning.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synthesis of EDA findings and the requested ESS implications. No new quantitative claims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423fedb0544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710a9c2c8e45fb" /><Relationship Type="http://schemas.openxmlformats.org/officeDocument/2006/relationships/slideLayout" Target="/ppt/slideLayouts/slideLayout1.xml" Id="R0a6c866d38b344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6c866d38b344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df2454da54f1a" /><Relationship Type="http://schemas.openxmlformats.org/officeDocument/2006/relationships/notesSlide" Target="/ppt/notesSlides/notesSlide1.xml" Id="R4518946edbca48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6478d6f844e64" /><Relationship Type="http://schemas.openxmlformats.org/officeDocument/2006/relationships/image" Target="/ppt/media/image.png" Id="R6ef24ecdcf9f4c84" /><Relationship Type="http://schemas.openxmlformats.org/officeDocument/2006/relationships/image" Target="/ppt/media/image2.png" Id="R3bfda1cc801649a7" /><Relationship Type="http://schemas.openxmlformats.org/officeDocument/2006/relationships/notesSlide" Target="/ppt/notesSlides/notesSlide2.xml" Id="R9117e40a270a46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b99f554b3433f" /><Relationship Type="http://schemas.openxmlformats.org/officeDocument/2006/relationships/image" Target="/ppt/media/image3.png" Id="R9b3cc673ffba40fc" /><Relationship Type="http://schemas.openxmlformats.org/officeDocument/2006/relationships/notesSlide" Target="/ppt/notesSlides/notesSlide3.xml" Id="R04fdc26d4ca148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96e59fcd443d5" /><Relationship Type="http://schemas.openxmlformats.org/officeDocument/2006/relationships/image" Target="/ppt/media/image4.png" Id="R8eb43dc2c9924384" /><Relationship Type="http://schemas.openxmlformats.org/officeDocument/2006/relationships/image" Target="/ppt/media/image5.png" Id="R1e8d4b562c9344d2" /><Relationship Type="http://schemas.openxmlformats.org/officeDocument/2006/relationships/notesSlide" Target="/ppt/notesSlides/notesSlide4.xml" Id="Ref5a37a4bd0340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fe2fbde024502" /><Relationship Type="http://schemas.openxmlformats.org/officeDocument/2006/relationships/image" Target="/ppt/media/image6.png" Id="R39a4284b4c084fe2" /><Relationship Type="http://schemas.openxmlformats.org/officeDocument/2006/relationships/notesSlide" Target="/ppt/notesSlides/notesSlide5.xml" Id="Rbef7d07ce34947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c41e4782248a4" /><Relationship Type="http://schemas.openxmlformats.org/officeDocument/2006/relationships/image" Target="/ppt/media/image7.png" Id="Rcfd7db81d5c84d97" /><Relationship Type="http://schemas.openxmlformats.org/officeDocument/2006/relationships/image" Target="/ppt/media/image8.png" Id="Rb7798e5c9e5b4f8d" /><Relationship Type="http://schemas.openxmlformats.org/officeDocument/2006/relationships/notesSlide" Target="/ppt/notesSlides/notesSlide6.xml" Id="R8d936511739e40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1c118180249a0" /><Relationship Type="http://schemas.openxmlformats.org/officeDocument/2006/relationships/notesSlide" Target="/ppt/notesSlides/notesSlide7.xml" Id="R31f7f81e0e8e4f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48dd28aac4d0a" /><Relationship Type="http://schemas.openxmlformats.org/officeDocument/2006/relationships/notesSlide" Target="/ppt/notesSlides/notesSlide8.xml" Id="R8cd3a5849f8044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f5d5b074749b7" /><Relationship Type="http://schemas.openxmlformats.org/officeDocument/2006/relationships/notesSlide" Target="/ppt/notesSlides/notesSlide9.xml" Id="Ra0f7ccd1901548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4E0A6B-5934-44D0-B40E-ECE245A4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ESS 배터리 수명 예측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B78745-DADA-4F82-8E61-E8B5C909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3C389-F792-4BF5-8965-D5CE8239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4CC6A-199D-4C59-B815-84599E0F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00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초기 열화 신호로 ESS 배터리 수명을 예측할 수 있는가?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33458-518D-4DC6-9BED-3B174B67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0020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MIT-Stanford 배터리 데이터셋 · 초기 100 Cycle · Cell 단위 회귀 분석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EFC78-F9B6-4366-B364-403E9DF7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9C683-01C4-4351-B7F7-F1DF532C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분석 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04BB2-C44B-4BBA-A2AF-6FEDDFE9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2100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수명 종료까지 기다리지 않고 초기 충방전 신호로 장기 Cycle Life를 추정한다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EFA22-C2AD-4FF7-BF4A-D65DBFEB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E4D6F-6E53-4854-8B28-58D62F5D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입력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B55D3-511A-4235-BCE4-B0B9A508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990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Cycle 1-100의 QD, Qdlin, IR, 온도, 충전시간과 충전 정책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DED0FE-0C20-4D6E-91B8-0BC315D4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F43B0-8B54-401C-B8D8-B70D0895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1480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목표값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AB112-3FE7-4034-AF2F-4D39E5FD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62450"/>
            <a:ext cx="2990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cycle_life</a:t>
            </a:r>
          </a:p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Cell이 EOL에 도달하기까지의 총 Cycle 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FECEEA-6017-4287-943E-AD9E09F8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37719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853F6-790B-4AAE-A0F3-D5A932B3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148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EAEC10-02EE-461B-897C-0093F5C1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62450"/>
            <a:ext cx="3429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Batch 1에서 모델 선택</a:t>
            </a:r>
          </a:p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Batch 2와 3은 외부 일반화 평가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A8D77C-6B20-4421-8D66-04C21CE5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125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ESS 적용 관점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C9DE5-D7A9-4314-B7D9-2043DBA6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6578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교체 계획과 예방 정비를 위해 조기 위험 Cell을 선별할 수 있는지 검증</a:t>
            </a:r>
          </a:p>
        </p:txBody>
      </p:sp>
    </p:spTree>
    <p:extLst>
      <p:ext uri="{BB962C8B-B14F-4D97-AF65-F5344CB8AC3E}">
        <p14:creationId xmlns:p14="http://schemas.microsoft.com/office/powerpoint/2010/main" val="11261971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D0FDC9-0BDC-43BC-862D-2BD8AF02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EDA 01  ·  목표값 분포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82DFF-A119-4005-90B9-0CC4639D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5BA02-B0A5-4486-97A7-D4E29F3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E246E-4E64-4961-9DBC-81D45DD4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Batch별 수명 분포가 크게 다르다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9F276-A8E1-4E4E-A1EA-DC71AFA6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분석 질문  ·  Batch 1에서 학습한 관계가 Batch 2와 3에서도 유지되는가?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D2BF0-4440-4DC2-9BD9-26613CCC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48768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f24ecdcf9f4c84"/>
          <a:stretch xmlns:a="http://schemas.openxmlformats.org/drawingml/2006/main"/>
        </p:blipFill>
        <p:spPr>
          <a:xfrm xmlns:a="http://schemas.openxmlformats.org/drawingml/2006/main">
            <a:off x="1347788" y="1733550"/>
            <a:ext cx="3286125" cy="2190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20AF16-398E-4B5F-9ED5-7E5E65F8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33850"/>
            <a:ext cx="48768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fda1cc801649a7"/>
          <a:stretch xmlns:a="http://schemas.openxmlformats.org/drawingml/2006/main"/>
        </p:blipFill>
        <p:spPr>
          <a:xfrm xmlns:a="http://schemas.openxmlformats.org/drawingml/2006/main">
            <a:off x="1588770" y="4191000"/>
            <a:ext cx="2804160" cy="17526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7A64D8-CCC0-4292-9641-D8629DD9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552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EA26C0-01EC-4975-8041-AAB219E6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790700"/>
            <a:ext cx="518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핵심 발견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9F740-FE38-486C-9337-CAD9F4CB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38350"/>
            <a:ext cx="5181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중앙값은 Batch 1 842.0, Batch 2 468.5, Batch 3 964.5 cycles다. Batch 2의 76.5%가 500 cycle 미만이다.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6E1F2E-D59B-452D-B43F-653B3201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05150"/>
            <a:ext cx="552450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5C125-9831-4D57-B93E-4C2FCB1C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05150"/>
            <a:ext cx="76200" cy="1390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8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2BA91-6031-47B6-A71A-C7A03AB7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19450"/>
            <a:ext cx="506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rPr>
              <a:t>한 Batch의 높은 정확도만으로 현장 적용성을 판단할 수 없다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F6DDC-D816-487A-9025-260C3F17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81400"/>
            <a:ext cx="5067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운전환경에 따라 수명 분포가 크게 달라진다. Batch 2·3에서 외부 일반화 성능을 확인해야 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0E6DC3-6A32-4A4B-8DF4-CC188AB8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686300"/>
            <a:ext cx="5524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BA4ED9-9A1B-44DE-BB9B-4E98EECD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00600"/>
            <a:ext cx="518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모델링 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E9ECC-57B6-45E5-977E-1CDB6E6B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48250"/>
            <a:ext cx="5181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Batch 1에서만 모델을 선택하고 튜닝한다. Batch 2는 단수명 영역 외부 테스트, Batch 3는 장수명 영역 추가 외부 테스트로 사용한다.</a:t>
            </a:r>
          </a:p>
        </p:txBody>
      </p:sp>
    </p:spTree>
    <p:extLst>
      <p:ext uri="{BB962C8B-B14F-4D97-AF65-F5344CB8AC3E}">
        <p14:creationId xmlns:p14="http://schemas.microsoft.com/office/powerpoint/2010/main" val="9729454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7E8C9C-938C-447D-9F48-DD5C4446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EDA 02  ·  용량 열화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496B6-2321-4F23-962F-B7AED8F9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88420-36AB-4A00-A5C5-DA67ACBF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4B181-C231-49E0-8637-7EB95FF2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초기 용량 절대값만으로 장기 수명을 구분하기 어렵다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9F1CD-7A52-401F-91B4-5C89FDCB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분석 질문  ·  장수명 Cell과 단수명 Cell은 초기 열화 구간에서 어떻게 다른가?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7A5F1-A39F-429A-AE73-3E91D029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63055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cc673ffba40fc"/>
          <a:stretch xmlns:a="http://schemas.openxmlformats.org/drawingml/2006/main"/>
        </p:blipFill>
        <p:spPr>
          <a:xfrm xmlns:a="http://schemas.openxmlformats.org/drawingml/2006/main">
            <a:off x="919163" y="1752600"/>
            <a:ext cx="5572125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25317-CB61-4336-B8DF-CCFB10F6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분석 근거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7F663-2F02-456F-A8EC-E48B5750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00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qd_10 vs cycle_life  ·  Pearson r = 0.101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B8B35-060F-42BC-AE45-7C650A49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95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A2187-9184-4E20-8310-DF721EB3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66900"/>
            <a:ext cx="3752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핵심 발견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9A1998-4300-427B-B29D-929FB9FF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14550"/>
            <a:ext cx="3752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초기 QD 곡선은 상당 부분 겹치며 특정 Cycle의 용량 절대값과 수명의 관계가 약하다.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775F4-350A-4039-B9E6-F7CF9C2E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4095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562502-FA8A-4007-A24C-0D991594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76200" cy="1466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8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1527B2-8F6D-49D0-AC91-D12A97DC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05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rPr>
              <a:t>현재 용량이 비슷해도 남은 수명은 다를 수 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B8D804-1E39-4BB1-A22C-CBCD36B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24250"/>
            <a:ext cx="3638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 위험 Cell을 구분하려면 단일 용량값보다 초기 열화 변화 속도와 곡선 변화를 추적해야 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2FFE7F-3431-458B-B72B-3153ACCC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05350"/>
            <a:ext cx="4095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9C4BA8-473C-48AF-8B5D-D831A340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819650"/>
            <a:ext cx="3752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모델링 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B8B43-77F6-4C94-B153-776DAEB5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067300"/>
            <a:ext cx="3752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qd_change, qd_slope와 전압별 곡선 변화인 ΔQ(V)를 생성한다.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8F4D06-47BB-44F0-967A-0C4D787F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6769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다음 분석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9897A1-A257-4215-9470-372322F1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00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05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초기 10-100 Cycle의 미세한 Curve 변화는 수명을 설명하는가?</a:t>
            </a:r>
          </a:p>
        </p:txBody>
      </p:sp>
    </p:spTree>
    <p:extLst>
      <p:ext uri="{BB962C8B-B14F-4D97-AF65-F5344CB8AC3E}">
        <p14:creationId xmlns:p14="http://schemas.microsoft.com/office/powerpoint/2010/main" val="4993407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35EA20-0DAF-4137-90C0-82A2A18D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EDA 03  ·  ΔQ(V)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21607-00A6-42FB-91F0-5988469A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906FD-96F8-4670-B197-4899D532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938B3-7F93-4C4B-B133-AF821538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ΔQ(V)는 초기 수명 구간에서 장기 수명 위험을 구분한다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57645-37DC-4930-AE07-504E9266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분석 질문  ·  Cycle 10과 100 사이의 방전곡선 변화가 Cycle Life와 연결되는가?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50A3E6-B901-402F-BDF7-23E62F2C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629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15114-14A4-48C9-872F-AD4F89C9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9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ΔQ₁₀₀₋₁₀(V) = Q₁₀₀(V) - Q₁₀(V)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76A25-38AD-4608-B951-90FE4FF3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52600"/>
            <a:ext cx="567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QD 단일값 차이가 아니라 공통 전압 격자에서 계산한 Qdlin 곡선의 지점별 차이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DA6D2-F932-4AD4-9FA4-9A3C5ACC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45910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43dc2c9924384"/>
          <a:stretch xmlns:a="http://schemas.openxmlformats.org/drawingml/2006/main"/>
        </p:blipFill>
        <p:spPr>
          <a:xfrm xmlns:a="http://schemas.openxmlformats.org/drawingml/2006/main">
            <a:off x="1019175" y="2552700"/>
            <a:ext cx="3657600" cy="2438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91ED16-6703-4B60-AE3E-0CBB42A9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95550"/>
            <a:ext cx="42100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d4b562c9344d2"/>
          <a:stretch xmlns:a="http://schemas.openxmlformats.org/drawingml/2006/main"/>
        </p:blipFill>
        <p:spPr>
          <a:xfrm xmlns:a="http://schemas.openxmlformats.org/drawingml/2006/main">
            <a:off x="5598795" y="2552700"/>
            <a:ext cx="3413760" cy="24384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E2EF4-A7E5-49E7-AE13-5286712D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52700"/>
            <a:ext cx="1714500" cy="24384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D90E3-84BE-4AD6-8898-726B33C7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575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Pearson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34163C-A100-430A-8543-FE63793A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94C4C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C94C4C"/>
                </a:solidFill>
                <a:latin typeface="Pretendard"/>
                <a:ea typeface="Pretendard"/>
                <a:cs typeface="Pretendard"/>
              </a:rPr>
              <a:t>-0.886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51F38-24A9-4568-B791-959677C6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481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Spearman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D30E0F-3A9D-48FA-9F5C-A7903EE0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957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-0.880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C39A1B-D033-4368-8160-9E53DD39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75438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17A55-B1B7-40B1-8F01-A456F670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76200" cy="933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8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008A9E-BA07-4C69-9370-D552D95C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708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rPr>
              <a:t>초기 100 Cycle만으로 장기 열화 위험을 선별할 가능성이 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9303C4-A082-4EC1-902B-16779FD2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708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ΔQ(V) 변화가 큰 Cell일수록 수명이 짧아지는 경향이 강하다.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D171EA-532D-49CF-A460-96EB487D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62550"/>
            <a:ext cx="28765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ACB682-794E-490E-A3CB-EF8ED89C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2768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모델링 결정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6F014-0A4B-4470-B264-86F6F3D6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524500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log_dq_var를 핵심 Feature 후보로 선정한다.</a:t>
            </a:r>
          </a:p>
        </p:txBody>
      </p:sp>
    </p:spTree>
    <p:extLst>
      <p:ext uri="{BB962C8B-B14F-4D97-AF65-F5344CB8AC3E}">
        <p14:creationId xmlns:p14="http://schemas.microsoft.com/office/powerpoint/2010/main" val="7856939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5B4BE7-55A1-40A9-9D18-5A085962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EDA 04  ·  충전 정책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4C204-854E-49F6-8CAD-27DB7BBF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D8256E-3AB6-4B42-B860-5BD97DC8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7861F-89DA-433B-969C-8C3F8985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수명 예측에는 Cell 상태와 충전 운전조건이 함께 필요하다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CBDA8-3CFF-4D88-882F-4465516A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분석 질문  ·  충전 Protocol에 따라 Cycle Life 분포가 달라지는가?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C0C65-36AC-4412-BB83-306E6501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6496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4284b4c084fe2"/>
          <a:stretch xmlns:a="http://schemas.openxmlformats.org/drawingml/2006/main"/>
        </p:blipFill>
        <p:spPr>
          <a:xfrm xmlns:a="http://schemas.openxmlformats.org/drawingml/2006/main">
            <a:off x="609600" y="1966913"/>
            <a:ext cx="6381750" cy="3190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2592E-C3F6-4517-B8C9-59DAF521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충전 정책 분해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F4B1B7-6375-4760-87AF-3317CC09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054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4.8C(80%)-3.6C  →  first_c_rate 4.8  /  switch_soc 0.8  /  second_c_rate 3.6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5E45E-1A0B-475E-887D-83AC34EF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71650"/>
            <a:ext cx="3905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89AC0-040A-4E8F-99B0-D6310325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8595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핵심 발견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2707BC-DDE0-4290-9572-17B5705D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33600"/>
            <a:ext cx="3562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first_c_rate와 Cycle Life 사이에 Pearson r = -0.577의 연관이 관찰됐다.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248489-62B7-4427-86B1-BA28D203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52750"/>
            <a:ext cx="39052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A52C55-E19B-4AF5-9BB3-553250F6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52750"/>
            <a:ext cx="76200" cy="1581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8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5B1C2-4904-44E1-AD01-4AFE66BE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67050"/>
            <a:ext cx="3448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764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rPr>
              <a:t>Cell 상태가 같아도 운전조건이 다르면 기대수명은 달라질 수 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7D396F-F34D-4FBA-97E4-4E7D1810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29000"/>
            <a:ext cx="3448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C-rate를 예측 변수와 검증 그룹에 포함하되, 관찰된 연관성을 인과관계로 단정하지 않는다.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F29A7-6906-412E-94A4-1C1A40D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724400"/>
            <a:ext cx="3905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8F4089-9F81-45EA-B182-1794F103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38700"/>
            <a:ext cx="3562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모델링 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F86F56-A559-41E2-B13F-1B6BC8E2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08635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1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C-rate Feature를 포함하고 charging_policy를 고려한 그룹 분할을 적용한다.</a:t>
            </a:r>
          </a:p>
        </p:txBody>
      </p:sp>
    </p:spTree>
    <p:extLst>
      <p:ext uri="{BB962C8B-B14F-4D97-AF65-F5344CB8AC3E}">
        <p14:creationId xmlns:p14="http://schemas.microsoft.com/office/powerpoint/2010/main" val="14697200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20B64A-649F-4615-95D4-E26FE064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EDA 05  ·  Feature 상관관계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E6B0E-1AB6-4403-AEB7-309B7E08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772D2-54FC-4B68-B184-F64BF2BE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390F95-048E-4727-AF80-812D688C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강한 ΔQ 신호에는 중복 정보도 함께 존재한다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6F5AD-8237-4087-8787-D7870D4E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분석 질문  ·  어떤 초기 신호가 수명과 관련 있고, Feature끼리는 얼마나 중복되는가?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B4031-B000-4F90-ADF8-67AF29C0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4019550" cy="3448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7db81d5c84d97"/>
          <a:stretch xmlns:a="http://schemas.openxmlformats.org/drawingml/2006/main"/>
        </p:blipFill>
        <p:spPr>
          <a:xfrm xmlns:a="http://schemas.openxmlformats.org/drawingml/2006/main">
            <a:off x="609600" y="1919817"/>
            <a:ext cx="3905250" cy="303741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3F5EE-D783-4D38-BB08-EEF8953B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14500"/>
            <a:ext cx="4019550" cy="3448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98e5c9e5b4f8d"/>
          <a:stretch xmlns:a="http://schemas.openxmlformats.org/drawingml/2006/main"/>
        </p:blipFill>
        <p:spPr>
          <a:xfrm xmlns:a="http://schemas.openxmlformats.org/drawingml/2006/main">
            <a:off x="4686300" y="1786304"/>
            <a:ext cx="3905250" cy="3304442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7BA86D-B376-4CCE-89D0-834DDBFD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79819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8027E-B51D-489B-8C78-47957705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7639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42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dq_std -0.896   ·   log_dq_var -0.886   ·   dq_range -0.884   ·   dq_min +0.883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1A6F6B-B315-41DD-8BA9-CE6CC36B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2381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F5ED3-4EDB-4183-B9AD-AECDAE57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859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핵심 발견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666E7-4FB6-480B-B9FE-7C95F918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33600"/>
            <a:ext cx="2038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ΔQ Feature들은 Cycle Life와 높은 상관을 보이지만 서로도 강하게 연관된다.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039B0-3754-4EE7-9875-927DB362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33700"/>
            <a:ext cx="2571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8B95E3-EB6A-43AD-BB8D-E108912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33700"/>
            <a:ext cx="76200" cy="1752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8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C01475-93E9-4B9F-AE04-7EA11798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2381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58D1C8"/>
                </a:solidFill>
                <a:latin typeface="Pretendard"/>
                <a:ea typeface="Pretendard"/>
                <a:cs typeface="Pretendard"/>
              </a:rPr>
              <a:t>강한 열화 신호를 많이 넣는 것보다 대표 지표를 잘 고르는 것이 중요하다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27EB28-A83B-48B3-8A81-62A81FBE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09950"/>
            <a:ext cx="21145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서로 비슷한 ΔQ Feature를 줄이고 정규화해 새로운 운전환경에서도 안정적인 모델을 구성한다.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EBA36A-7F87-4B50-B2EB-CFB90675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768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65F778-3902-44B6-9F01-0913E5F5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9110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모델링 결정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418244-61FD-4F47-8C5D-B28D9F73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238750"/>
            <a:ext cx="2228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960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Feature Selection 또는 Regularization을 적용한다.</a:t>
            </a:r>
          </a:p>
        </p:txBody>
      </p:sp>
    </p:spTree>
    <p:extLst>
      <p:ext uri="{BB962C8B-B14F-4D97-AF65-F5344CB8AC3E}">
        <p14:creationId xmlns:p14="http://schemas.microsoft.com/office/powerpoint/2010/main" val="16513385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2EA812-04C7-400F-8DD9-712FEA4F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FEATURE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9FE9E-43F3-4089-9EED-FACA2935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E5706-8721-4B22-A42E-D7F1DC2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A8015-72D6-4DAD-A90A-C4DD6D85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EDA 결과를 Cell-level Feature로 구조화한다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1ED9E-0327-4832-AA7C-EEE896AF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한 Cell을 한 행으로 만들고 세 Batch에 동일한 Feature 생성 절차를 적용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164C1F-20E4-48C4-B36C-ECE1E2D0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25F6D-E33B-4E38-9801-2057C997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EDA 관찰 결과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7276F-53D2-4A22-AF57-9DF4D0E3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526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65C44-47F0-4BB2-AAEB-73B4C2B4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526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생성 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EDB21C-4B33-4D3B-B53C-B691549F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D8B26-5FA5-4421-81FC-B36A14F2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초기 QD 절대값의 구분력이 낮음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07FA3-8154-48F9-AFD5-DFAF1E9A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050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변화 속도와 누적 변화를 표현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2E69A-585E-4392-BA02-40ABB737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050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qd_change · qd_slope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EC3745-E112-44EB-81B0-ECBC01C6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0972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6DC7D-38B1-400F-8A77-B863A7C9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ΔQ(V)와 수명의 관계가 강함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47E66-2F8A-4B3B-B862-03D2AF51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099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Early-life 열화 형태를 요약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6E15FA-D8AF-44B7-A8E5-1E96B13D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0990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log_dq_var · dq_min · dq_range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94945-DF1B-47D9-AE56-39E45052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972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2ACB1B-7905-4C0C-83AC-0B247C2F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IR과 온도는 보조 신호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8C9FB9-81DD-4555-AB7F-D295CED5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7147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전기적·열적 상태 변화를 포함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D60B1F-54FD-42B8-BD15-2872EBFC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147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ir_change · tavg_mean · tmax_max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F32718-B12E-49DA-B597-9AD7C729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19FF02-9BE2-4000-A349-4FBE5B36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충전 Protocol별 분포 차이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14A66A-34B0-4784-9890-02151181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4196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운전조건을 Cell 상태와 함께 반영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A420C-9E6F-4CBB-93BE-268403F3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1960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first_c_rate · switch_soc · second_c_rate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DB96F4-4928-4948-9490-D9458918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972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539203-4E65-4812-8E07-EEF0C6BF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ΔQ Feature끼리 중복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018255-ADEC-47D5-9F58-C0F943C6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1244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대표 Feature 선택과 규제가 필요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5D1F43-52F2-47C9-A307-DF36C3E3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244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Feature Selection · Regularization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F9B92-D62E-426D-A3CB-EBCE6E2B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21FCBF-79BF-4084-9269-60519834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출력 구조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75877E-7850-4D8F-BFBF-3D1E0109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924550"/>
            <a:ext cx="904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cell_id · cycle_life · log_dq_var · qd_slope · ir_change · temperature · C-rate</a:t>
            </a:r>
          </a:p>
        </p:txBody>
      </p:sp>
    </p:spTree>
    <p:extLst>
      <p:ext uri="{BB962C8B-B14F-4D97-AF65-F5344CB8AC3E}">
        <p14:creationId xmlns:p14="http://schemas.microsoft.com/office/powerpoint/2010/main" val="26474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955919-341E-49C0-BFC7-98D3A7BF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모델링 전략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65EDB-B6DD-49BA-8F0D-8F1B7E8F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ACB5C-9195-454D-91A2-B0D61CFD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913E5-3275-44F6-8350-ED1BFCB8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소규모 정형 데이터셋에 맞는 모델과 검증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731AF-34EC-40D8-A411-CEAA4F98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Feature와 하이퍼파라미터는 Batch 1에서만 결정하고 테스트 Batch는 최종 평가에만 사용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98391-4388-4A39-BAB7-45C9C355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모델 후보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ADE3B-D144-43C5-82E6-C87DA596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2479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D9653-348D-41F9-8BFB-BCE26A22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693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Linear Regression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28447-0BC5-4FC0-BD11-BC39DBA8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기준 모델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5F3D4-CF6D-4E46-BDA6-9DCD1393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선형 관계의 기준 성능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7009B8-8CA0-498C-B487-3A38AF2E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38350"/>
            <a:ext cx="22479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9525">
            <a:solidFill>
              <a:srgbClr val="008C8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A31BC-EAF5-429B-AC90-52052E96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907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ElasticNet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979037-5E4E-47D7-8A01-23ED6195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주요 후보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FCA7B-4C43-40A3-BA04-2F2FFD08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다중공선성과 정규화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68FB4-F593-4CD2-841D-4FD1D458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38350"/>
            <a:ext cx="22479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9E1E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A20836-0766-47C8-A70A-9A2C7915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1907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32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Gradient Boosting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DAD25F-855A-4032-A8F1-DBDF139D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67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비선형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AA43C-C657-4557-AE91-9C01E39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5275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비선형 관계, 제한된 복잡도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A803A4-BD0E-40AD-BB0B-80FE03FB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716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108642-7D91-4589-9C1D-83127D74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681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딥러닝보다 전통 ML을 우선하는 이유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697FB-79E7-4D43-9037-2512A7C4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6819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약 100개 Cell의 소규모 정형 데이터셋이다. 생성 Feature 기반 분석에서는 고복잡도 모델의 과적합 위험이 높다.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72957-EEEE-4D89-B423-64718A23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검증 구조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9E70B-82F2-46E0-8D73-3E14CA43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38350"/>
            <a:ext cx="3143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82248A-2FF7-497D-81EA-E2904D72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BATCH 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80697A-99DF-42DA-90D6-F6BC94DD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3360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학습 + 검증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8C8B99-D31E-498D-9A96-369E72B5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5745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모델 선택 · 스케일링 · 튜닝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2F445F-0DE5-46EE-B9E4-0345AE52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3143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25B735-ED66-4C16-B821-973DE76D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194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BATCH 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6ABA2E-8CCA-4900-BE41-7FF4FCF0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0040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외부 테스트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746010-044C-4D34-9E90-BC5EDAAD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2425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단수명 영역 · 선택에 사용하지 않음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CA2313-2064-4B13-9092-9C04479F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3143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1C1F80-376B-42E8-9108-9D42AC43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2862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BATCH 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29FECB-5B3C-4507-B5C9-C3E5B24C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6720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추가 외부 테스트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CA8FA6-56AD-4C3D-8D7D-3C385328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9105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장수명 영역 · 추가 일반화 검증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02F7D0-CDFB-48E1-BB90-6B3D2CF0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716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3C3122-3046-4F92-8CB1-56A71E5B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소규모 정형 데이터셋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9E2695-D6F9-4EDB-ABE2-C63C59AA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578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전통 ML 우선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0673AF-61C9-453B-9358-FFB2DD32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검증 결과로 최종 선택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B62F59-C31E-4ADA-ABB3-C6F2B526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6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목표값  log(cycle_life)  ·  평가지표  역변환 후 원 Cycle 단위 MAPE</a:t>
            </a:r>
          </a:p>
        </p:txBody>
      </p:sp>
    </p:spTree>
    <p:extLst>
      <p:ext uri="{BB962C8B-B14F-4D97-AF65-F5344CB8AC3E}">
        <p14:creationId xmlns:p14="http://schemas.microsoft.com/office/powerpoint/2010/main" val="19013601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65305-CB14-46D9-89E7-AC3BFF73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975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192C9-F86A-486D-B5C8-E4BA4EB3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defRPr>
            </a:pPr>
            <a:r>
              <a:rPr sz="825" b="0">
                <a:solidFill>
                  <a:srgbClr val="94A0AA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451DB-E21F-49CE-8CF5-9AEF54AC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8"/>
          </a:solidFill>
          <a:ln xmlns:a="http://schemas.openxmlformats.org/drawingml/2006/main" w="0">
            <a:solidFill>
              <a:srgbClr val="D9E1E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CBF66C-F8BB-411E-973B-873D229C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ESS 수명 예측에서 확인한 네 가지 핵심 결론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87380-536A-4262-962B-B8247385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5F6B76"/>
                </a:solidFill>
                <a:latin typeface="Pretendard"/>
                <a:ea typeface="Pretendard"/>
                <a:cs typeface="Pretendard"/>
              </a:rPr>
              <a:t>EDA 결과를 현장 적용 관점과 모델 검증 전략으로 연결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1BEE3B-64E3-4C67-83B7-12AA4E66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162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6AED7B-E022-4025-81DA-20857366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7A517-CB74-4890-859D-7018867D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669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조기 예측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4A480-5885-41BF-8258-E98408FA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05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초기 Cycle 데이터로 장기 배터리 수명 위험을 조기에 구분할 가능성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DEFB67-93CA-4947-96FD-C9696C3A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14500"/>
            <a:ext cx="5162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15AF0-EA96-4D49-9878-BCB50942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85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01D93-F499-4815-A330-B20B9B46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669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절대값보다 추세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87ECC-63C6-46DB-AF48-AD7BE6CA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05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단일 용량값보다 초기 열화 변화 패턴을 추적하는 것이 중요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E61B5D-5CBD-4213-9283-7CF5C3A6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5162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91BF06-797F-4398-88E2-DD68607A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008C8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156BE-42DE-44AE-9FD4-CC1012E3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195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운전조건의 중요성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65FF74-4D04-4DD5-95CA-15D4432E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배터리 상태와 충전 운전조건을 함께 고려해야 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98D21C-3CF4-4FF8-B5A7-F9E472F0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467100"/>
            <a:ext cx="51625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4E8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E2F5E-CFBF-4BB5-B770-7822BC2C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385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7827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97827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52E156-58C7-4BB5-AE95-9A682FB1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195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17324D"/>
                </a:solidFill>
                <a:latin typeface="Pretendard"/>
                <a:ea typeface="Pretendard"/>
                <a:cs typeface="Pretendard"/>
              </a:rPr>
              <a:t>일반화 검증의 중요성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F5FC8C-91DB-4F64-8F63-94A31456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576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1F2933"/>
                </a:solidFill>
                <a:latin typeface="Pretendard"/>
                <a:ea typeface="Pretendard"/>
                <a:cs typeface="Pretendard"/>
              </a:rPr>
              <a:t>다른 운전조건에서도 유지되는 외부 Batch 성능을 검증해야 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FB1D31-5AEC-4FF8-A4AB-0AB7E145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5918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FF88FA-9C30-47CE-B517-3D172A9D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317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초기 열화 패턴과 운전조건을 결합한 Cell 단위 Feature를 구축하고, 외부 Batch 일반화 성능을 중심으로 수명 예측 모델을 검증한다.</a:t>
            </a:r>
          </a:p>
        </p:txBody>
      </p:sp>
    </p:spTree>
    <p:extLst>
      <p:ext uri="{BB962C8B-B14F-4D97-AF65-F5344CB8AC3E}">
        <p14:creationId xmlns:p14="http://schemas.microsoft.com/office/powerpoint/2010/main" val="6730318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2026-10-01T05:29:56.5380000Z</dcterms:created>
  <dcterms:modified xsi:type="dcterms:W3CDTF">2026-10-01T05:29:56.5380000Z</dcterms:modified>
</coreProperties>
</file>